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1" r:id="rId1"/>
  </p:sldMasterIdLst>
  <p:notesMasterIdLst>
    <p:notesMasterId r:id="rId4"/>
  </p:notesMasterIdLst>
  <p:handoutMasterIdLst>
    <p:handoutMasterId r:id="rId5"/>
  </p:handoutMasterIdLst>
  <p:sldIdLst>
    <p:sldId id="540" r:id="rId2"/>
    <p:sldId id="643" r:id="rId3"/>
  </p:sldIdLst>
  <p:sldSz cx="12192000" cy="6858000"/>
  <p:notesSz cx="7315200" cy="12344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ll slides" id="{69C79F6C-AA55-485D-BB9F-DB342B159076}">
          <p14:sldIdLst>
            <p14:sldId id="540"/>
            <p14:sldId id="64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888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elle Howell" initials="MH" lastIdx="4" clrIdx="0">
    <p:extLst>
      <p:ext uri="{19B8F6BF-5375-455C-9EA6-DF929625EA0E}">
        <p15:presenceInfo xmlns:p15="http://schemas.microsoft.com/office/powerpoint/2012/main" userId="Michelle How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7C94"/>
    <a:srgbClr val="00688C"/>
    <a:srgbClr val="8B8580"/>
    <a:srgbClr val="1A2F3F"/>
    <a:srgbClr val="2C5266"/>
    <a:srgbClr val="81B2C3"/>
    <a:srgbClr val="FDFEFE"/>
    <a:srgbClr val="FEFEFE"/>
    <a:srgbClr val="FFFEFE"/>
    <a:srgbClr val="FFFF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53" autoAdjust="0"/>
    <p:restoredTop sz="93605" autoAdjust="0"/>
  </p:normalViewPr>
  <p:slideViewPr>
    <p:cSldViewPr snapToGrid="0" showGuides="1">
      <p:cViewPr varScale="1">
        <p:scale>
          <a:sx n="146" d="100"/>
          <a:sy n="146" d="100"/>
        </p:scale>
        <p:origin x="2958" y="12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796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50" d="100"/>
          <a:sy n="50" d="100"/>
        </p:scale>
        <p:origin x="2804" y="44"/>
      </p:cViewPr>
      <p:guideLst>
        <p:guide orient="horz" pos="3888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554425A-3696-4DFB-B808-D2B88F3EB7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l">
              <a:defRPr sz="1600"/>
            </a:lvl1pPr>
          </a:lstStyle>
          <a:p>
            <a:endParaRPr lang="en-US" dirty="0">
              <a:latin typeface="Oracle Sans Tab" panose="020B0503020204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51457F-2D60-4187-92B7-C5BBED78E9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9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r">
              <a:defRPr sz="1600"/>
            </a:lvl1pPr>
          </a:lstStyle>
          <a:p>
            <a:fld id="{320DD655-51D6-466D-8D72-5C78765FC630}" type="datetimeFigureOut">
              <a:rPr lang="en-US" smtClean="0">
                <a:latin typeface="Oracle Sans Tab" panose="020B0503020204020204" pitchFamily="34" charset="0"/>
              </a:rPr>
              <a:t>1/17/2023</a:t>
            </a:fld>
            <a:endParaRPr lang="en-US" dirty="0">
              <a:latin typeface="Oracle Sans Tab" panose="020B0503020204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FA8CCD-D5C0-4680-BEFC-52889AACDB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l">
              <a:defRPr sz="1600"/>
            </a:lvl1pPr>
          </a:lstStyle>
          <a:p>
            <a:endParaRPr lang="en-US" dirty="0">
              <a:latin typeface="Oracle Sans Tab" panose="020B0503020204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0B35B-8976-44A2-B80D-FC8BD07A167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r">
              <a:defRPr sz="1600"/>
            </a:lvl1pPr>
          </a:lstStyle>
          <a:p>
            <a:fld id="{9D34DC6F-9D14-4548-8221-51EE6F5B6657}" type="slidenum">
              <a:rPr lang="en-US" smtClean="0">
                <a:latin typeface="Oracle Sans Tab" panose="020B0503020204020204" pitchFamily="34" charset="0"/>
              </a:rPr>
              <a:t>‹#›</a:t>
            </a:fld>
            <a:endParaRPr lang="en-US" dirty="0">
              <a:latin typeface="Oracle Sans Tab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1278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l">
              <a:defRPr sz="1600">
                <a:latin typeface="Oracle Sans Tab" panose="020B05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r">
              <a:defRPr sz="1600">
                <a:latin typeface="Oracle Sans Tab" panose="020B0503020204020204" pitchFamily="34" charset="0"/>
              </a:defRPr>
            </a:lvl1pPr>
          </a:lstStyle>
          <a:p>
            <a:fld id="{4F9C25BA-F9B0-4418-8CA0-3A9DF1256BA5}" type="datetimeFigureOut">
              <a:rPr lang="en-US" smtClean="0"/>
              <a:pPr/>
              <a:t>1/17/2023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12299" tIns="56150" rIns="112299" bIns="5615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marR="0" lvl="0" indent="0" fontAlgn="auto">
              <a:lnSpc>
                <a:spcPct val="95000"/>
              </a:lnSpc>
              <a:spcBef>
                <a:spcPts val="736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</a:pPr>
            <a:r>
              <a:rPr lang="en-US" dirty="0"/>
              <a:t>Edit Master text styles</a:t>
            </a:r>
          </a:p>
          <a:p>
            <a:pPr marL="449199" marR="0" lvl="1" indent="-224599" fontAlgn="auto">
              <a:lnSpc>
                <a:spcPct val="95000"/>
              </a:lnSpc>
              <a:spcBef>
                <a:spcPts val="736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r>
              <a:rPr lang="en-US" dirty="0"/>
              <a:t>Second level</a:t>
            </a:r>
          </a:p>
          <a:p>
            <a:pPr marL="898397" marR="0" lvl="2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Pct val="120000"/>
              <a:buFont typeface="System Font Regular"/>
              <a:buChar char="-"/>
              <a:tabLst/>
            </a:pPr>
            <a:r>
              <a:rPr lang="en-US" dirty="0"/>
              <a:t>Third level</a:t>
            </a:r>
          </a:p>
          <a:p>
            <a:pPr marL="1347596" marR="0" lvl="3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Pct val="100000"/>
              <a:buFont typeface="System Font Regular"/>
              <a:buChar char="◦"/>
              <a:tabLst/>
            </a:pPr>
            <a:r>
              <a:rPr lang="en-US" dirty="0"/>
              <a:t>Fourth level</a:t>
            </a:r>
          </a:p>
          <a:p>
            <a:pPr marL="1796796" marR="0" lvl="4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Tx/>
              <a:buFont typeface="System Font Regular"/>
              <a:buChar char="•"/>
              <a:tabLst/>
            </a:pPr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r">
              <a:defRPr sz="1600">
                <a:latin typeface="Oracle Sans Tab" panose="020B0503020204020204" pitchFamily="34" charset="0"/>
              </a:defRPr>
            </a:lvl1pPr>
          </a:lstStyle>
          <a:p>
            <a:fld id="{9EDC5964-3162-43B5-B1EC-63C8D166D7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l">
              <a:defRPr sz="1600">
                <a:latin typeface="Oracle Sans Tab" panose="020B0503020204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971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n-US" sz="1200" b="0" i="0" kern="1200">
        <a:solidFill>
          <a:schemeClr val="tx1"/>
        </a:solidFill>
        <a:latin typeface="Oracle Sans Tab" panose="020B0503020204020204" pitchFamily="34" charset="0"/>
        <a:ea typeface="+mn-ea"/>
        <a:cs typeface="Oracle Sans Tab" panose="020B0503020204020204" pitchFamily="34" charset="0"/>
      </a:defRPr>
    </a:lvl1pPr>
    <a:lvl2pPr marL="457200" algn="l" defTabSz="914400" rtl="0" eaLnBrk="1" latinLnBrk="0" hangingPunct="1">
      <a:defRPr lang="en-US" sz="1200" b="0" i="0" kern="1200">
        <a:solidFill>
          <a:schemeClr val="tx1"/>
        </a:solidFill>
        <a:latin typeface="Oracle Sans Tab" panose="020B0503020204020204" pitchFamily="34" charset="0"/>
        <a:ea typeface="+mn-ea"/>
        <a:cs typeface="Oracle Sans Tab" panose="020B0503020204020204" pitchFamily="34" charset="0"/>
      </a:defRPr>
    </a:lvl2pPr>
    <a:lvl3pPr marL="914400" algn="l" defTabSz="914400" rtl="0" eaLnBrk="1" latinLnBrk="0" hangingPunct="1">
      <a:defRPr lang="en-US" sz="110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3pPr>
    <a:lvl4pPr marL="1371600" algn="l" defTabSz="914400" rtl="0" eaLnBrk="1" latinLnBrk="0" hangingPunct="1">
      <a:defRPr lang="en-US" sz="105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4pPr>
    <a:lvl5pPr marL="1828800" algn="l" defTabSz="914400" rtl="0" eaLnBrk="1" latinLnBrk="0" hangingPunct="1">
      <a:defRPr lang="en-US" sz="100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luence.oraclecorp.com/confluence/display/DemandCenter/Safe+Harbor+Disclosures+for+Presentations" TargetMode="External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hyperlink" Target="mailto:mailto:quietperiod_ww_grp@oracle.com" TargetMode="Externa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loud">
            <a:extLst>
              <a:ext uri="{FF2B5EF4-FFF2-40B4-BE49-F238E27FC236}">
                <a16:creationId xmlns:a16="http://schemas.microsoft.com/office/drawing/2014/main" id="{14698CB0-77BC-6148-8112-EFC83C0F5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7A30E9B-4EB7-4882-9E42-67210E9CC0B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1525" y="1600200"/>
            <a:ext cx="10677525" cy="4507992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5CB6F3B-CCE4-4193-8EAA-C4A6D27C7D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31DBF8-F618-4198-88BA-FD1569B2979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Month Year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8AA26E-E9A4-4CE1-9157-28062D2322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Copyright © 2022, Oracle and/or its affiliates  |  Confidential: Internal OR Restricted OR Highly Restricted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3DA01-00EF-4B14-8325-24C1135260F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567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loud">
            <a:extLst>
              <a:ext uri="{FF2B5EF4-FFF2-40B4-BE49-F238E27FC236}">
                <a16:creationId xmlns:a16="http://schemas.microsoft.com/office/drawing/2014/main" id="{C4B9D6C0-2524-2D47-8A0E-258A2FB7D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709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0201"/>
            <a:ext cx="10671175" cy="4506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4D9CD-CDC4-4642-8CDA-7351404FC2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C5C278-52DE-4C8A-933B-1109B3282E5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Month Year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2CE12F3-375D-4B05-A71D-DA14DF8ADB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Copyright © 2022, Oracle and/or its affiliates  |  Confidential: Internal OR Restricted OR Highly Restricted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A59FA82-C146-45DF-AE7B-4B5698706BE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948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2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loud">
            <a:extLst>
              <a:ext uri="{FF2B5EF4-FFF2-40B4-BE49-F238E27FC236}">
                <a16:creationId xmlns:a16="http://schemas.microsoft.com/office/drawing/2014/main" id="{5B8024F8-E03D-9641-AA75-22D1B5C84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8575"/>
            <a:ext cx="508406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6109577" y="160857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215" y="1608575"/>
            <a:ext cx="508406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69740FE-E1B8-466B-970A-4E081BCA3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59A2DB-C5C1-4EE1-AACB-216D980708B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Month Year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DC0504-19F8-4069-8B02-83766B3CAF7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2022, Oracle and/or its affiliates  |  Confidential: Internal OR Restricted OR Highly Restricted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D6D2F-6BC7-48B4-B7A5-AD19749245D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7340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loud">
            <a:extLst>
              <a:ext uri="{FF2B5EF4-FFF2-40B4-BE49-F238E27FC236}">
                <a16:creationId xmlns:a16="http://schemas.microsoft.com/office/drawing/2014/main" id="{F24DF316-2FA6-AE44-AB7A-9E7E86E0B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8297"/>
            <a:ext cx="508406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6108521" y="1608298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215" y="1608297"/>
            <a:ext cx="508406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65FA2D-6C94-456B-8DE9-80C7A3BE2C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D06EC0-4AE6-4D7C-87DE-D393DC47ED9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Month Year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594DB29-C2B8-4F61-8419-EEE3D1E837A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2022, Oracle and/or its affiliates  |  Confidential: Internal OR Restricted OR Highly Restricted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4C4FB3-367C-49DA-9BEF-99BD8CD346F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59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3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loud">
            <a:extLst>
              <a:ext uri="{FF2B5EF4-FFF2-40B4-BE49-F238E27FC236}">
                <a16:creationId xmlns:a16="http://schemas.microsoft.com/office/drawing/2014/main" id="{3CA75903-C10D-E747-B877-6804D65E8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9725"/>
            <a:ext cx="330098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Column Divider" descr="Column Divider">
            <a:extLst>
              <a:ext uri="{FF2B5EF4-FFF2-40B4-BE49-F238E27FC236}">
                <a16:creationId xmlns:a16="http://schemas.microsoft.com/office/drawing/2014/main" id="{B228B4F2-5D6F-42F4-B132-F908BB527268}"/>
              </a:ext>
            </a:extLst>
          </p:cNvPr>
          <p:cNvCxnSpPr>
            <a:cxnSpLocks/>
          </p:cNvCxnSpPr>
          <p:nvPr userDrawn="1"/>
        </p:nvCxnSpPr>
        <p:spPr>
          <a:xfrm>
            <a:off x="4263415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2">
            <a:extLst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56971" y="1609725"/>
            <a:ext cx="330098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Column Divider 2" descr="Column Divider">
            <a:extLst>
              <a:ext uri="{FF2B5EF4-FFF2-40B4-BE49-F238E27FC236}">
                <a16:creationId xmlns:a16="http://schemas.microsoft.com/office/drawing/2014/main" id="{43000B2C-7C76-4F07-AF50-5F3019C384BC}"/>
              </a:ext>
            </a:extLst>
          </p:cNvPr>
          <p:cNvCxnSpPr>
            <a:cxnSpLocks/>
          </p:cNvCxnSpPr>
          <p:nvPr userDrawn="1"/>
        </p:nvCxnSpPr>
        <p:spPr>
          <a:xfrm>
            <a:off x="7951511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3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45067" y="1609725"/>
            <a:ext cx="330098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2FFF47-983C-4CE2-9048-1317EB4F3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56EEFB-7FCA-4C8C-BD9A-59CFF6BBA9A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Month Year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095ECF-3404-41BC-B49D-2616D73127C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Copyright © 2022, Oracle and/or its affiliates  |  Confidential: Internal OR Restricted OR Highly Restricted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9C599-3545-4260-BC77-88BD7619A10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606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loud">
            <a:extLst>
              <a:ext uri="{FF2B5EF4-FFF2-40B4-BE49-F238E27FC236}">
                <a16:creationId xmlns:a16="http://schemas.microsoft.com/office/drawing/2014/main" id="{D922B281-CE8B-4E47-889A-38B9D11BA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4"/>
            <a:ext cx="330098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4261915" y="1609724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56083" y="1609724"/>
            <a:ext cx="330098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Column Divider 2" descr="Column Divider">
            <a:extLst>
              <a:ext uri="{FF2B5EF4-FFF2-40B4-BE49-F238E27FC236}">
                <a16:creationId xmlns:a16="http://schemas.microsoft.com/office/drawing/2014/main" id="{A70D9BB7-9BB9-40BD-84D2-8EE238E044D3}"/>
              </a:ext>
            </a:extLst>
          </p:cNvPr>
          <p:cNvCxnSpPr>
            <a:cxnSpLocks/>
          </p:cNvCxnSpPr>
          <p:nvPr userDrawn="1"/>
        </p:nvCxnSpPr>
        <p:spPr>
          <a:xfrm>
            <a:off x="7951236" y="1609724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3">
            <a:extLst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45405" y="1609724"/>
            <a:ext cx="3300984" cy="4507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26210A-4112-4730-8F81-3CAE5C391F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D3E0A-0143-42FC-B8B6-EBC1FF990000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Month Year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D46B54D-91F2-4210-9BEA-3B59824207D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Copyright © 2022, Oracle and/or its affiliates  |  Confidential: Internal OR Restricted OR Highly Restricted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0900B02-4438-4597-85D3-D93A97B1546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448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4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Cloud">
            <a:extLst>
              <a:ext uri="{FF2B5EF4-FFF2-40B4-BE49-F238E27FC236}">
                <a16:creationId xmlns:a16="http://schemas.microsoft.com/office/drawing/2014/main" id="{403EA880-91CB-2F4A-BC00-A93538513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589524"/>
            <a:ext cx="2478024" cy="4525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Column Divider" descr="Column Divider">
            <a:extLst>
              <a:ext uri="{FF2B5EF4-FFF2-40B4-BE49-F238E27FC236}">
                <a16:creationId xmlns:a16="http://schemas.microsoft.com/office/drawing/2014/main" id="{B228B4F2-5D6F-42F4-B132-F908BB527268}"/>
              </a:ext>
            </a:extLst>
          </p:cNvPr>
          <p:cNvCxnSpPr>
            <a:cxnSpLocks/>
          </p:cNvCxnSpPr>
          <p:nvPr userDrawn="1"/>
        </p:nvCxnSpPr>
        <p:spPr>
          <a:xfrm>
            <a:off x="3374450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2">
            <a:extLst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502001" y="1589524"/>
            <a:ext cx="2478024" cy="4525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Column Divider 2" descr="Column Divider">
            <a:extLst>
              <a:ext uri="{FF2B5EF4-FFF2-40B4-BE49-F238E27FC236}">
                <a16:creationId xmlns:a16="http://schemas.microsoft.com/office/drawing/2014/main" id="{43000B2C-7C76-4F07-AF50-5F3019C384BC}"/>
              </a:ext>
            </a:extLst>
          </p:cNvPr>
          <p:cNvCxnSpPr>
            <a:cxnSpLocks/>
          </p:cNvCxnSpPr>
          <p:nvPr userDrawn="1"/>
        </p:nvCxnSpPr>
        <p:spPr>
          <a:xfrm>
            <a:off x="6107576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3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35127" y="1589524"/>
            <a:ext cx="2478024" cy="4525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9" name="Column Divider 3" descr="Column Divider">
            <a:extLst>
              <a:ext uri="{FF2B5EF4-FFF2-40B4-BE49-F238E27FC236}">
                <a16:creationId xmlns:a16="http://schemas.microsoft.com/office/drawing/2014/main" id="{0379F816-270D-4D0F-8838-510AA3E97C28}"/>
              </a:ext>
            </a:extLst>
          </p:cNvPr>
          <p:cNvCxnSpPr>
            <a:cxnSpLocks/>
          </p:cNvCxnSpPr>
          <p:nvPr userDrawn="1"/>
        </p:nvCxnSpPr>
        <p:spPr>
          <a:xfrm>
            <a:off x="8840702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4">
            <a:extLst>
              <a:ext uri="{FF2B5EF4-FFF2-40B4-BE49-F238E27FC236}">
                <a16:creationId xmlns:a16="http://schemas.microsoft.com/office/drawing/2014/main" id="{4FB98D34-E09D-43FC-9515-8F7C37635BF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968254" y="1589524"/>
            <a:ext cx="2478024" cy="4525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65C0AC-7132-4356-88D4-79E4A49B2C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131A1D-D1FF-4A37-8531-B67D54ED466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Month Year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026-CA1C-465B-ADD5-AE1F9B7A077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Copyright © 2022, Oracle and/or its affiliates  |  Confidential: Internal OR Restricted OR Highly Restricted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64CFB-254B-4876-8556-026D173672E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1591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loud">
            <a:extLst>
              <a:ext uri="{FF2B5EF4-FFF2-40B4-BE49-F238E27FC236}">
                <a16:creationId xmlns:a16="http://schemas.microsoft.com/office/drawing/2014/main" id="{DE68A64E-9177-1E41-B02B-9C94A30A0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5"/>
            <a:ext cx="2478024" cy="4506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3373924" y="1609667"/>
            <a:ext cx="0" cy="4508050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03061" y="1609725"/>
            <a:ext cx="2478024" cy="4506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Column Divider 2" descr="Column Divider">
            <a:extLst>
              <a:ext uri="{FF2B5EF4-FFF2-40B4-BE49-F238E27FC236}">
                <a16:creationId xmlns:a16="http://schemas.microsoft.com/office/drawing/2014/main" id="{A70D9BB7-9BB9-40BD-84D2-8EE238E044D3}"/>
              </a:ext>
            </a:extLst>
          </p:cNvPr>
          <p:cNvCxnSpPr>
            <a:cxnSpLocks/>
          </p:cNvCxnSpPr>
          <p:nvPr userDrawn="1"/>
        </p:nvCxnSpPr>
        <p:spPr>
          <a:xfrm>
            <a:off x="6110222" y="1609667"/>
            <a:ext cx="0" cy="4508050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3">
            <a:extLst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9359" y="1609725"/>
            <a:ext cx="2478024" cy="4506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5" name="Column Divider 3" descr="Column Divider">
            <a:extLst>
              <a:ext uri="{FF2B5EF4-FFF2-40B4-BE49-F238E27FC236}">
                <a16:creationId xmlns:a16="http://schemas.microsoft.com/office/drawing/2014/main" id="{BE2D13B4-3BF3-4416-B638-87C59A2973BB}"/>
              </a:ext>
            </a:extLst>
          </p:cNvPr>
          <p:cNvCxnSpPr>
            <a:cxnSpLocks/>
          </p:cNvCxnSpPr>
          <p:nvPr userDrawn="1"/>
        </p:nvCxnSpPr>
        <p:spPr>
          <a:xfrm>
            <a:off x="8846520" y="1609667"/>
            <a:ext cx="0" cy="4508050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4">
            <a:extLst>
              <a:ext uri="{FF2B5EF4-FFF2-40B4-BE49-F238E27FC236}">
                <a16:creationId xmlns:a16="http://schemas.microsoft.com/office/drawing/2014/main" id="{687CB06A-9B62-47DB-BA7A-177E12DFB17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975659" y="1609725"/>
            <a:ext cx="2478024" cy="4506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2191157-EC2D-4417-9959-2EA7D1DAFF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388CBD-B05C-4885-A081-172C87DCAD8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Month Year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E56F53-8C5C-4F85-9969-353868B64B2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Copyright © 2022, Oracle and/or its affiliates  |  Confidential: Internal OR Restricted OR Highly Restricted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89360B9-A253-468B-B3D3-70CC43B0746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06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Numbered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Cloud">
            <a:extLst>
              <a:ext uri="{FF2B5EF4-FFF2-40B4-BE49-F238E27FC236}">
                <a16:creationId xmlns:a16="http://schemas.microsoft.com/office/drawing/2014/main" id="{3CFD71AD-DED9-6542-9425-0CD364D04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52282" y="4403039"/>
            <a:ext cx="6133750" cy="169501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2000" y="1609724"/>
            <a:ext cx="10687050" cy="4505325"/>
          </a:xfr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Month Year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/>
          <a:p>
            <a:r>
              <a:rPr lang="en-US" dirty="0"/>
              <a:t>Copyright © 2022, Oracle and/or its affiliates  |  Confidential: Internal OR Restricted OR Highly Restricted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372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Numbered Outline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Cloud">
            <a:extLst>
              <a:ext uri="{FF2B5EF4-FFF2-40B4-BE49-F238E27FC236}">
                <a16:creationId xmlns:a16="http://schemas.microsoft.com/office/drawing/2014/main" id="{3CFD71AD-DED9-6542-9425-0CD364D04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52282" y="4403039"/>
            <a:ext cx="6133750" cy="169501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2000" y="1609724"/>
            <a:ext cx="5084064" cy="4505325"/>
          </a:xfr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Month Year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/>
          <a:p>
            <a:r>
              <a:rPr lang="en-US" dirty="0"/>
              <a:t>Copyright © 2022, Oracle and/or its affiliates  |  Confidential: Internal OR Restricted OR Highly Restricted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3AB42C3-C7C2-47CD-8E87-C5D5963E7A0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364986" y="1609724"/>
            <a:ext cx="5084064" cy="4505325"/>
          </a:xfr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0599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loud">
            <a:extLst>
              <a:ext uri="{FF2B5EF4-FFF2-40B4-BE49-F238E27FC236}">
                <a16:creationId xmlns:a16="http://schemas.microsoft.com/office/drawing/2014/main" id="{8BD8F955-3E3E-4E6E-A650-C4E0C8049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E29D2F-E9BE-442D-8048-30D82B0FA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Month Year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49E66D-873C-4E3D-B665-952DA3AD6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 2022, Oracle and/or its affiliates  |  Confidential: Internal OR Restricted OR Highly Restricted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2D4C26-D77F-4F76-BA95-32055FEC6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CFC0A1BD-A1B6-486D-90D4-72B0E02FB6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222" y="6400105"/>
            <a:ext cx="3014778" cy="412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491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loud">
            <a:extLst>
              <a:ext uri="{FF2B5EF4-FFF2-40B4-BE49-F238E27FC236}">
                <a16:creationId xmlns:a16="http://schemas.microsoft.com/office/drawing/2014/main" id="{A52109B5-4152-894B-9BF6-17B5458CC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5090641-BB3E-479D-A754-1B2B6F37AE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53D77D-CD9E-445C-8F26-904F65B51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Month Year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AEFA0-C12C-4365-A532-D29F81954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 2022, Oracle and/or its affiliates  |  Confidential: Internal OR Restricted OR Highly Restricted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038FD-33E0-4C25-AC00-13FEB177A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172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loud">
            <a:extLst>
              <a:ext uri="{FF2B5EF4-FFF2-40B4-BE49-F238E27FC236}">
                <a16:creationId xmlns:a16="http://schemas.microsoft.com/office/drawing/2014/main" id="{EE127CFA-8D5C-584E-9C61-6685B547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15" name="Subtitle">
            <a:extLst>
              <a:ext uri="{FF2B5EF4-FFF2-40B4-BE49-F238E27FC236}">
                <a16:creationId xmlns:a16="http://schemas.microsoft.com/office/drawing/2014/main" id="{FC0004EB-159B-A345-859C-0E83416ED9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024235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6A8D35-C90D-428D-8E15-6F958679D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526A55-50C7-43D1-9A4E-DE6E3157868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Month Year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ED885-1287-4046-BFFE-E5DEC702C7A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Copyright © 2022, Oracle and/or its affiliates  |  Confidential: Internal OR Restricted OR Highly Restricted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C1380-E61D-4D70-B7A9-EA2CA56D144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223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Met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F90C14E-647D-DE45-A3FE-3E841253B4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97" r="-1"/>
          <a:stretch/>
        </p:blipFill>
        <p:spPr>
          <a:xfrm>
            <a:off x="6095574" y="0"/>
            <a:ext cx="6096425" cy="6858000"/>
          </a:xfrm>
          <a:prstGeom prst="rect">
            <a:avLst/>
          </a:prstGeom>
        </p:spPr>
      </p:pic>
      <p:sp>
        <p:nvSpPr>
          <p:cNvPr id="4" name="Content">
            <a:extLst>
              <a:ext uri="{FF2B5EF4-FFF2-40B4-BE49-F238E27FC236}">
                <a16:creationId xmlns:a16="http://schemas.microsoft.com/office/drawing/2014/main" id="{6FFB33C6-31EA-4D15-AC3F-377D699FA84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5225" y="4649788"/>
            <a:ext cx="5072063" cy="1457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3AB0E-EC5F-476F-B6A9-E6F9CE84E9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3900" y="1600200"/>
            <a:ext cx="5072063" cy="2415700"/>
          </a:xfrm>
        </p:spPr>
        <p:txBody>
          <a:bodyPr anchor="b" anchorCtr="0"/>
          <a:lstStyle>
            <a:lvl1pPr>
              <a:defRPr sz="8000" b="1" spc="-150">
                <a:solidFill>
                  <a:srgbClr val="AE562C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EF74DF-FD68-4CDF-B4CE-342E7A165BC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Month Year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9C4B030-1E0B-4CB0-87B4-DF607257368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2022, Oracle and/or its affiliates  |  Confidential: Internal OR Restricted OR Highly Restricted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ADD7B5-9676-40DE-A88A-5EC3D33A65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940978A8-5443-43D0-AF4C-4AF06BB02B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222" y="6400105"/>
            <a:ext cx="3014778" cy="412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391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Data Texture 07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681203-42C6-B54E-A5F8-FE2DAE3C0E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DFA4C3-C577-4944-B23B-0E8CEECA0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Month Year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48FBC-C180-4348-924F-1AD0DE33E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 2022, Oracle and/or its affiliates  |  Confidential: Internal OR Restricted OR Highly Restricted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93164-8F12-4A57-BCB2-ECAB88B10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A65E8FBF-84AD-45EE-A55E-AE29BC49F0E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222" y="6400105"/>
            <a:ext cx="3014778" cy="412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9119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Data Texture 16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8A9AF7-F5CE-844F-BBE4-0C983CB99B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9127AD-303E-4148-925B-F8D854942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Month Year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7CD67-74FC-43EC-912B-8B74B34E5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 2022, Oracle and/or its affiliates  |  Confidential: Internal OR Restricted OR Highly Restricted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119101-EC6A-4B95-9940-BAB31432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472DA005-F528-4C19-8BEE-968C0DAE6E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222" y="6400105"/>
            <a:ext cx="3014778" cy="412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3607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Data Texture 19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7712D2-1637-4940-A323-42EBA61AD5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BA956C-AFD4-4D95-9304-BB81E2E12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Month Year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782E6-C6D7-4588-8CDE-8BB252C53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 2022, Oracle and/or its affiliates  |  Confidential: Internal OR Restricted OR Highly Restricted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AD6286E-40B3-4954-877E-F88E2191B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5514CA0E-8B39-4B20-8CEB-2B599CF768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222" y="6400105"/>
            <a:ext cx="3014778" cy="412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Safe Harb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loud">
            <a:extLst>
              <a:ext uri="{FF2B5EF4-FFF2-40B4-BE49-F238E27FC236}">
                <a16:creationId xmlns:a16="http://schemas.microsoft.com/office/drawing/2014/main" id="{2FCEE6FC-E7A1-9745-9FBA-161384F6B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6204017" y="3432466"/>
            <a:ext cx="5987981" cy="2780569"/>
          </a:xfrm>
          <a:prstGeom prst="rect">
            <a:avLst/>
          </a:prstGeom>
        </p:spPr>
      </p:pic>
      <p:sp>
        <p:nvSpPr>
          <p:cNvPr id="13" name="Title">
            <a:extLst>
              <a:ext uri="{FF2B5EF4-FFF2-40B4-BE49-F238E27FC236}">
                <a16:creationId xmlns:a16="http://schemas.microsoft.com/office/drawing/2014/main" id="{F7C5FACA-CB69-F341-96EC-260102929140}"/>
              </a:ext>
            </a:extLst>
          </p:cNvPr>
          <p:cNvSpPr txBox="1"/>
          <p:nvPr userDrawn="1"/>
        </p:nvSpPr>
        <p:spPr>
          <a:xfrm>
            <a:off x="766762" y="184150"/>
            <a:ext cx="10671048" cy="8229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lvl="0" indent="0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baseline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1pPr>
          </a:lstStyle>
          <a:p>
            <a:pPr lvl="0"/>
            <a:r>
              <a:rPr lang="en-US" dirty="0">
                <a:solidFill>
                  <a:schemeClr val="tx1"/>
                </a:solidFill>
                <a:latin typeface="+mn-lt"/>
                <a:cs typeface="Oracle Sans Tab" panose="020B0503020204020204" pitchFamily="34" charset="0"/>
              </a:rPr>
              <a:t>Safe harbor statement</a:t>
            </a:r>
          </a:p>
        </p:txBody>
      </p:sp>
      <p:sp>
        <p:nvSpPr>
          <p:cNvPr id="14" name="Text Field">
            <a:extLst>
              <a:ext uri="{FF2B5EF4-FFF2-40B4-BE49-F238E27FC236}">
                <a16:creationId xmlns:a16="http://schemas.microsoft.com/office/drawing/2014/main" id="{EA78FDD8-084D-2D41-A37D-7DE0C431B1DA}"/>
              </a:ext>
            </a:extLst>
          </p:cNvPr>
          <p:cNvSpPr txBox="1"/>
          <p:nvPr userDrawn="1"/>
        </p:nvSpPr>
        <p:spPr>
          <a:xfrm>
            <a:off x="766762" y="1608421"/>
            <a:ext cx="7987939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8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of August 2020, for most presentations, a safe harbor statement is no longer required, and you will not need to use this slide.  </a:t>
            </a:r>
            <a:br>
              <a:rPr lang="en-US" sz="18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8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forward looking statement safe harbor slide is required ONLY for external presentations that pertain to: product launches, executive presentations and keynotes at major events, and any event attended by financial analysts.</a:t>
            </a:r>
          </a:p>
          <a:p>
            <a:endParaRPr lang="en-US" sz="18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/>
              <a:t>The notice is available at the </a:t>
            </a:r>
            <a:r>
              <a:rPr lang="en-US" u="sng" dirty="0">
                <a:solidFill>
                  <a:srgbClr val="00688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Safe Harbor Confluence Page</a:t>
            </a:r>
            <a:endParaRPr lang="en-US" dirty="0">
              <a:solidFill>
                <a:srgbClr val="00688C"/>
              </a:solidFill>
            </a:endParaRPr>
          </a:p>
          <a:p>
            <a:r>
              <a:rPr lang="en-US" dirty="0"/>
              <a:t>Contact for Forward Looking Statement: </a:t>
            </a:r>
            <a:r>
              <a:rPr lang="en-US" u="sng" dirty="0">
                <a:solidFill>
                  <a:srgbClr val="00688C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quietperiod_ww_grp@oracle.com</a:t>
            </a:r>
            <a:endParaRPr lang="en-US" dirty="0">
              <a:solidFill>
                <a:srgbClr val="00688C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96628B-0EF0-416B-9E8E-3931DFCB9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Month Year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B72738-3834-418C-9636-B18B1A182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 2022, Oracle and/or its affiliates  |  Confidential: Internal OR Restricted OR Highly Restricted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840CC-B289-4EEE-9D6C-A6440E686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161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Remote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EE69D29-7337-6248-888D-2A03308526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00"/>
          <a:stretch/>
        </p:blipFill>
        <p:spPr>
          <a:xfrm>
            <a:off x="4876800" y="0"/>
            <a:ext cx="7315199" cy="6858000"/>
          </a:xfrm>
          <a:prstGeom prst="rect">
            <a:avLst/>
          </a:prstGeom>
        </p:spPr>
      </p:pic>
      <p:sp>
        <p:nvSpPr>
          <p:cNvPr id="20" name="Title">
            <a:extLst>
              <a:ext uri="{FF2B5EF4-FFF2-40B4-BE49-F238E27FC236}">
                <a16:creationId xmlns:a16="http://schemas.microsoft.com/office/drawing/2014/main" id="{D94542D5-A1D6-E542-963D-B72B60EDE0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85816" y="2351724"/>
            <a:ext cx="6297167" cy="82296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2400" b="1" i="0" baseline="0"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Add title here. Also remove/replace placeholder image as needed.</a:t>
            </a:r>
          </a:p>
        </p:txBody>
      </p:sp>
      <p:sp>
        <p:nvSpPr>
          <p:cNvPr id="21" name="Text Field">
            <a:extLst>
              <a:ext uri="{FF2B5EF4-FFF2-40B4-BE49-F238E27FC236}">
                <a16:creationId xmlns:a16="http://schemas.microsoft.com/office/drawing/2014/main" id="{517ED098-6976-5549-9CFB-EE89734AF8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85816" y="3662156"/>
            <a:ext cx="6297168" cy="11324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 dirty="0"/>
              <a:t>Title</a:t>
            </a:r>
          </a:p>
          <a:p>
            <a:pPr lvl="0"/>
            <a:r>
              <a:rPr lang="en-US" dirty="0"/>
              <a:t>Company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F5E131-FF87-4B2F-9DB6-B4DB095B758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4876800" cy="6858000"/>
          </a:xfrm>
        </p:spPr>
        <p:txBody>
          <a:bodyPr anchor="ctr" anchorCtr="1"/>
          <a:lstStyle>
            <a:lvl1pPr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86FB79-6AF9-4538-98F2-33825A26DECE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Month Year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D6A4509-AC78-4360-9126-01A3BC6609AC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dirty="0"/>
              <a:t>Copyright © 2022, Oracle and/or its affiliates  |  Confidential: Internal OR Restricted OR Highly Restricted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C2FCDC2-FBB6-46F4-9BD5-AE85C1DC3F2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0CF3CADE-C446-4DC1-94C3-5676A3012F3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222" y="6400105"/>
            <a:ext cx="3014778" cy="412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10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Quote with Data Tex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Data Texture Image">
            <a:extLst>
              <a:ext uri="{FF2B5EF4-FFF2-40B4-BE49-F238E27FC236}">
                <a16:creationId xmlns:a16="http://schemas.microsoft.com/office/drawing/2014/main" id="{B04AAB1E-3886-45C0-9EE7-ABD1360D0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8"/>
          </a:xfrm>
          <a:prstGeom prst="rect">
            <a:avLst/>
          </a:prstGeom>
          <a:ln>
            <a:noFill/>
          </a:ln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BA19B719-F896-40D2-A59B-8E51E7D4BB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1828800"/>
            <a:ext cx="8049200" cy="2026447"/>
          </a:xfrm>
          <a:noFill/>
        </p:spPr>
        <p:txBody>
          <a:bodyPr vert="horz" wrap="square" lIns="0" tIns="0" rIns="0" bIns="0" rtlCol="0" anchor="b" anchorCtr="0">
            <a:noAutofit/>
          </a:bodyPr>
          <a:lstStyle>
            <a:lvl1pPr>
              <a:lnSpc>
                <a:spcPct val="100000"/>
              </a:lnSpc>
              <a:defRPr lang="en-US" sz="3200" b="0">
                <a:latin typeface="+mj-lt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“Click to type customer or partner quote surrounded by quotation marks.” Remove/replace placeholder logo as needed.</a:t>
            </a:r>
          </a:p>
        </p:txBody>
      </p:sp>
      <p:sp>
        <p:nvSpPr>
          <p:cNvPr id="13" name="Text Field">
            <a:extLst>
              <a:ext uri="{FF2B5EF4-FFF2-40B4-BE49-F238E27FC236}">
                <a16:creationId xmlns:a16="http://schemas.microsoft.com/office/drawing/2014/main" id="{B09058E5-A74E-C340-89D0-4D15C2F3B8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61999" y="4540249"/>
            <a:ext cx="5333999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 dirty="0"/>
              <a:t>Name of person quoted</a:t>
            </a:r>
          </a:p>
        </p:txBody>
      </p:sp>
      <p:sp>
        <p:nvSpPr>
          <p:cNvPr id="12" name="Text Field 2">
            <a:extLst>
              <a:ext uri="{FF2B5EF4-FFF2-40B4-BE49-F238E27FC236}">
                <a16:creationId xmlns:a16="http://schemas.microsoft.com/office/drawing/2014/main" id="{36C31D35-A48A-6B46-A3DB-FDB99CCA72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1999" y="4877842"/>
            <a:ext cx="5333999" cy="8951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</a:lstStyle>
          <a:p>
            <a:pPr lvl="0"/>
            <a:r>
              <a:rPr lang="en-US" dirty="0"/>
              <a:t>Additional information if needed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14A2E81-7AA0-4954-BF7E-C076C41AF7C6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771067" y="1013988"/>
            <a:ext cx="2944208" cy="81481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logo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7ECA2C-4CF8-48ED-893A-2958F9909B90}"/>
              </a:ext>
            </a:extLst>
          </p:cNvPr>
          <p:cNvSpPr>
            <a:spLocks noGrp="1"/>
          </p:cNvSpPr>
          <p:nvPr>
            <p:ph type="dt" sz="half" idx="4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Month Year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4FDBCE-E35C-4859-AD9D-93665BD69FD5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/>
          <a:p>
            <a:r>
              <a:rPr lang="en-US" dirty="0"/>
              <a:t>Copyright © 2022, Oracle and/or its affiliates  |  Confidential: Internal OR Restricted OR Highly Restricted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5130C2-E640-4887-BCA9-090F40084C88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B6799802-A57F-4E60-8EB2-A1F12887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222" y="6400105"/>
            <a:ext cx="3014778" cy="412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68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Quot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Quote">
            <a:extLst>
              <a:ext uri="{FF2B5EF4-FFF2-40B4-BE49-F238E27FC236}">
                <a16:creationId xmlns:a16="http://schemas.microsoft.com/office/drawing/2014/main" id="{A13E52A3-3B72-407D-BD94-ADB27B9FC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2844" y="2434528"/>
            <a:ext cx="6067096" cy="1846659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lnSpc>
                <a:spcPct val="100000"/>
              </a:lnSpc>
              <a:defRPr lang="en-US" sz="3000" b="0" dirty="0">
                <a:latin typeface="+mj-lt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“Click to type customer or partner quote surrounded by quotation marks.” Remove/replace placeholder image as needed.</a:t>
            </a:r>
          </a:p>
        </p:txBody>
      </p:sp>
      <p:sp>
        <p:nvSpPr>
          <p:cNvPr id="13" name="Text Field">
            <a:extLst>
              <a:ext uri="{FF2B5EF4-FFF2-40B4-BE49-F238E27FC236}">
                <a16:creationId xmlns:a16="http://schemas.microsoft.com/office/drawing/2014/main" id="{04A571F4-71E4-264A-BBD5-0475995E68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72844" y="4983135"/>
            <a:ext cx="6054629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 of person quoted</a:t>
            </a:r>
          </a:p>
        </p:txBody>
      </p:sp>
      <p:sp>
        <p:nvSpPr>
          <p:cNvPr id="11" name="Text Field 2">
            <a:extLst>
              <a:ext uri="{FF2B5EF4-FFF2-40B4-BE49-F238E27FC236}">
                <a16:creationId xmlns:a16="http://schemas.microsoft.com/office/drawing/2014/main" id="{CBFB97F9-F988-C34C-8B6D-BB4A4D88173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72844" y="5320728"/>
            <a:ext cx="6054629" cy="78638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Additional information if needed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F9EF32-2876-8841-ADB8-707F8BDB8530}"/>
              </a:ext>
            </a:extLst>
          </p:cNvPr>
          <p:cNvSpPr txBox="1"/>
          <p:nvPr userDrawn="1"/>
        </p:nvSpPr>
        <p:spPr>
          <a:xfrm>
            <a:off x="1295730" y="3244334"/>
            <a:ext cx="2285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Click to add image</a:t>
            </a: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48F56FAF-A389-4DEC-BCB5-7C2BCDEBE166}"/>
              </a:ext>
            </a:extLst>
          </p:cNvPr>
          <p:cNvSpPr>
            <a:spLocks noGrp="1" noChangeAspect="1"/>
          </p:cNvSpPr>
          <p:nvPr>
            <p:ph type="pic" sz="quarter" idx="41" hasCustomPrompt="1"/>
          </p:nvPr>
        </p:nvSpPr>
        <p:spPr>
          <a:xfrm>
            <a:off x="5434085" y="1206535"/>
            <a:ext cx="2944208" cy="841248"/>
          </a:xfrm>
        </p:spPr>
        <p:txBody>
          <a:bodyPr anchor="ctr" anchorCtr="1"/>
          <a:lstStyle>
            <a:lvl1pPr>
              <a:defRPr/>
            </a:lvl1pPr>
          </a:lstStyle>
          <a:p>
            <a:r>
              <a:rPr lang="en-US" dirty="0"/>
              <a:t>Click to add logo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5069B-D056-45AF-BC91-ABDBFD0C3D1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0" y="0"/>
            <a:ext cx="4876800" cy="6858000"/>
          </a:xfrm>
        </p:spPr>
        <p:txBody>
          <a:bodyPr anchor="ctr" anchorCtr="1"/>
          <a:lstStyle>
            <a:lvl1pPr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7CAF2-5875-4790-8762-15A8CDD16E08}"/>
              </a:ext>
            </a:extLst>
          </p:cNvPr>
          <p:cNvSpPr>
            <a:spLocks noGrp="1"/>
          </p:cNvSpPr>
          <p:nvPr>
            <p:ph type="dt" sz="half" idx="4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Month Year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75504-AA80-48D0-ABE0-C3B4B0480FBA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 dirty="0"/>
              <a:t>Copyright © 2022, Oracle and/or its affiliates  |  Confidential: Internal OR Restricted OR Highly Restricted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A2E22D8-777D-4A4E-8190-9C7E9654A636}"/>
              </a:ext>
            </a:extLst>
          </p:cNvPr>
          <p:cNvSpPr>
            <a:spLocks noGrp="1"/>
          </p:cNvSpPr>
          <p:nvPr>
            <p:ph type="sldNum" sz="quarter" idx="45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67FB9BEB-848B-4CBA-9B7F-9257216599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222" y="6400105"/>
            <a:ext cx="3014778" cy="412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34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ark - Closing Slide">
    <p:bg>
      <p:bgPr>
        <a:solidFill>
          <a:srgbClr val="1A2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F0FA7A-379D-9A45-B1F0-FFFD2227DB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943292" y="2556852"/>
            <a:ext cx="3962400" cy="130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5231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A70F255-3C2A-4AC7-8935-184146E3B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10671048" cy="8229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  <p:sp>
        <p:nvSpPr>
          <p:cNvPr id="4" name="Text Field">
            <a:extLst>
              <a:ext uri="{FF2B5EF4-FFF2-40B4-BE49-F238E27FC236}">
                <a16:creationId xmlns:a16="http://schemas.microsoft.com/office/drawing/2014/main" id="{E46619B6-A626-4CDA-96E2-B94F4637C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8875" y="1600200"/>
            <a:ext cx="10671048" cy="451485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08A3F6CD-49F4-D74B-8C7F-D6CA71EFB1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2000" y="6423660"/>
            <a:ext cx="36576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8B8580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Footer">
            <a:extLst>
              <a:ext uri="{FF2B5EF4-FFF2-40B4-BE49-F238E27FC236}">
                <a16:creationId xmlns:a16="http://schemas.microsoft.com/office/drawing/2014/main" id="{8E003242-6B91-1949-A5CA-15BA57A045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7759" y="6423978"/>
            <a:ext cx="574537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8B8580"/>
                </a:solidFill>
              </a:defRPr>
            </a:lvl1pPr>
          </a:lstStyle>
          <a:p>
            <a:r>
              <a:rPr lang="en-US" dirty="0"/>
              <a:t>Copyright © 2022, Oracle and/or its affiliates  |  Confidential: Internal OR Restricted OR Highly Restricted</a:t>
            </a:r>
          </a:p>
        </p:txBody>
      </p:sp>
      <p:sp>
        <p:nvSpPr>
          <p:cNvPr id="20" name="Date">
            <a:extLst>
              <a:ext uri="{FF2B5EF4-FFF2-40B4-BE49-F238E27FC236}">
                <a16:creationId xmlns:a16="http://schemas.microsoft.com/office/drawing/2014/main" id="{65BA88F5-EF53-415B-8446-19188BE675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73138" y="6425604"/>
            <a:ext cx="2383157" cy="363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US" sz="900" smtClean="0">
                <a:solidFill>
                  <a:srgbClr val="8B8580"/>
                </a:solidFill>
              </a:defRPr>
            </a:lvl1pPr>
          </a:lstStyle>
          <a:p>
            <a:r>
              <a:rPr lang="en-US" dirty="0"/>
              <a:t>Month Year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EC46B2-BF3F-4A69-8B57-7C0D229EBC00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41408" y="6493122"/>
            <a:ext cx="1645920" cy="11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300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774" r:id="rId2"/>
    <p:sldLayoutId id="2147483922" r:id="rId3"/>
    <p:sldLayoutId id="2147483920" r:id="rId4"/>
    <p:sldLayoutId id="2147483931" r:id="rId5"/>
    <p:sldLayoutId id="2147483936" r:id="rId6"/>
    <p:sldLayoutId id="2147483933" r:id="rId7"/>
    <p:sldLayoutId id="2147483938" r:id="rId8"/>
    <p:sldLayoutId id="2147483969" r:id="rId9"/>
    <p:sldLayoutId id="2147483974" r:id="rId10"/>
    <p:sldLayoutId id="2147483756" r:id="rId11"/>
    <p:sldLayoutId id="2147483754" r:id="rId12"/>
    <p:sldLayoutId id="2147483778" r:id="rId13"/>
    <p:sldLayoutId id="2147483762" r:id="rId14"/>
    <p:sldLayoutId id="2147483766" r:id="rId15"/>
    <p:sldLayoutId id="2147483769" r:id="rId16"/>
    <p:sldLayoutId id="2147483768" r:id="rId17"/>
    <p:sldLayoutId id="2147483814" r:id="rId18"/>
    <p:sldLayoutId id="2147483749" r:id="rId19"/>
    <p:sldLayoutId id="2147483751" r:id="rId20"/>
    <p:sldLayoutId id="2147483752" r:id="rId21"/>
    <p:sldLayoutId id="2147483944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lang="en-US" sz="2400" b="1" i="0" kern="1200" baseline="0" dirty="0">
          <a:solidFill>
            <a:schemeClr val="tx1"/>
          </a:solidFill>
          <a:latin typeface="+mn-lt"/>
          <a:ea typeface="+mn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Tx/>
        <a:buFont typeface="System Font Regular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Oracle Sans Tab" panose="020B0503020204020204" pitchFamily="34" charset="0"/>
        </a:defRPr>
      </a:lvl1pPr>
      <a:lvl2pPr marL="365760" marR="0" indent="-18288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Oracle Sans Tab" panose="020B0503020204020204" pitchFamily="34" charset="0"/>
        </a:defRPr>
      </a:lvl2pPr>
      <a:lvl3pPr marL="547688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3pPr>
      <a:lvl4pPr marL="730250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4pPr>
      <a:lvl5pPr marL="914400" marR="0" indent="-182880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Tx/>
        <a:buFont typeface="System Font Regular"/>
        <a:buChar char="•"/>
        <a:tabLst/>
        <a:defRPr sz="12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SzPct val="100000"/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1008" userDrawn="1">
          <p15:clr>
            <a:srgbClr val="F26B43"/>
          </p15:clr>
        </p15:guide>
        <p15:guide id="4" orient="horz" pos="3852" userDrawn="1">
          <p15:clr>
            <a:srgbClr val="F26B43"/>
          </p15:clr>
        </p15:guide>
        <p15:guide id="5" pos="480" userDrawn="1">
          <p15:clr>
            <a:srgbClr val="F26B43"/>
          </p15:clr>
        </p15:guide>
        <p15:guide id="6" orient="horz" pos="795" userDrawn="1">
          <p15:clr>
            <a:srgbClr val="F26B43"/>
          </p15:clr>
        </p15:guide>
        <p15:guide id="7" orient="horz" pos="590" userDrawn="1">
          <p15:clr>
            <a:srgbClr val="F26B43"/>
          </p15:clr>
        </p15:guide>
        <p15:guide id="8" pos="721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CCEE7-6F13-4034-B0B9-9AFB2749FA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Justification for Change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3F37B2-1594-4664-B5C7-336B2EEDB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of Improving Business Processes – Advanced Revenue Management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A1F0810-98B8-41B6-A9F0-399E90B07F24}"/>
              </a:ext>
            </a:extLst>
          </p:cNvPr>
          <p:cNvSpPr txBox="1">
            <a:spLocks/>
          </p:cNvSpPr>
          <p:nvPr/>
        </p:nvSpPr>
        <p:spPr>
          <a:xfrm>
            <a:off x="762000" y="6423660"/>
            <a:ext cx="36576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rgbClr val="8B858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45D60D9-5372-5F40-9443-0F9AE5BDC3C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2F8803BC-D35A-49D2-BA7E-BC0DB937EB7F}"/>
              </a:ext>
            </a:extLst>
          </p:cNvPr>
          <p:cNvSpPr txBox="1">
            <a:spLocks/>
          </p:cNvSpPr>
          <p:nvPr/>
        </p:nvSpPr>
        <p:spPr>
          <a:xfrm>
            <a:off x="1127759" y="6423978"/>
            <a:ext cx="574537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rgbClr val="8B858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Copyright © 2023, Oracle and/or its </a:t>
            </a:r>
            <a:r>
              <a:rPr lang="en-US"/>
              <a:t>affiliates  </a:t>
            </a:r>
            <a:endParaRPr lang="en-US" dirty="0"/>
          </a:p>
        </p:txBody>
      </p:sp>
      <p:sp>
        <p:nvSpPr>
          <p:cNvPr id="237" name="Text Placeholder 10">
            <a:extLst>
              <a:ext uri="{FF2B5EF4-FFF2-40B4-BE49-F238E27FC236}">
                <a16:creationId xmlns:a16="http://schemas.microsoft.com/office/drawing/2014/main" id="{8EB7621E-80C8-1246-943B-CCCE561AE1A0}"/>
              </a:ext>
            </a:extLst>
          </p:cNvPr>
          <p:cNvSpPr>
            <a:spLocks noGrp="1"/>
          </p:cNvSpPr>
          <p:nvPr/>
        </p:nvSpPr>
        <p:spPr>
          <a:xfrm>
            <a:off x="762000" y="2414747"/>
            <a:ext cx="4601922" cy="42608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 sz="1800" b="0" i="0" kern="1200">
                <a:solidFill>
                  <a:schemeClr val="tx1"/>
                </a:solidFill>
                <a:latin typeface="Oracle Sans" panose="020B0503020204020204" pitchFamily="34" charset="0"/>
                <a:ea typeface="+mn-ea"/>
                <a:cs typeface="Oracle Sans" panose="020B0503020204020204" pitchFamily="34" charset="0"/>
              </a:defRPr>
            </a:lvl1pPr>
            <a:lvl2pPr marL="365760" marR="0" indent="-18288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Oracle Sans" panose="020B0503020204020204" pitchFamily="34" charset="0"/>
                <a:ea typeface="+mn-ea"/>
                <a:cs typeface="Oracle Sans" panose="020B0503020204020204" pitchFamily="34" charset="0"/>
              </a:defRPr>
            </a:lvl2pPr>
            <a:lvl3pPr marL="731520" marR="0" indent="-182880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Tx/>
              <a:buSzPct val="120000"/>
              <a:buFont typeface="System Font Regular"/>
              <a:buChar char="-"/>
              <a:tabLst/>
              <a:defRPr sz="1600" kern="1200">
                <a:solidFill>
                  <a:schemeClr val="tx1"/>
                </a:solidFill>
                <a:latin typeface="Oracle Sans Light" panose="020B0403020204020204" pitchFamily="34" charset="0"/>
                <a:ea typeface="+mn-ea"/>
                <a:cs typeface="Oracle Sans Light" panose="020B0403020204020204" pitchFamily="34" charset="0"/>
              </a:defRPr>
            </a:lvl3pPr>
            <a:lvl4pPr marL="1097280" marR="0" indent="-182880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Tx/>
              <a:buSzPct val="100000"/>
              <a:buFont typeface="System Font Regular"/>
              <a:buChar char="◦"/>
              <a:tabLst/>
              <a:defRPr sz="1400" kern="1200">
                <a:solidFill>
                  <a:schemeClr val="tx1"/>
                </a:solidFill>
                <a:latin typeface="Oracle Sans Light" panose="020B0403020204020204" pitchFamily="34" charset="0"/>
                <a:ea typeface="+mn-ea"/>
                <a:cs typeface="Oracle Sans Light" panose="020B0403020204020204" pitchFamily="34" charset="0"/>
              </a:defRPr>
            </a:lvl4pPr>
            <a:lvl5pPr marL="1463040" marR="0" indent="-182880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System Font Regular"/>
              <a:buChar char="•"/>
              <a:tabLst/>
              <a:defRPr sz="1200" kern="1200">
                <a:solidFill>
                  <a:schemeClr val="tx1"/>
                </a:solidFill>
                <a:latin typeface="Oracle Sans Light" panose="020B0403020204020204" pitchFamily="34" charset="0"/>
                <a:ea typeface="+mn-ea"/>
                <a:cs typeface="Oracle Sans Light" panose="020B0403020204020204" pitchFamily="34" charset="0"/>
              </a:defRPr>
            </a:lvl5pPr>
            <a:lvl6pPr marL="1828800" indent="-182880" algn="l" defTabSz="914400" rtl="0" eaLnBrk="1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SzPct val="120000"/>
              <a:buFont typeface="System Font Regular"/>
              <a:buChar char="-"/>
              <a:defRPr sz="1200" b="0" i="0" kern="1200">
                <a:solidFill>
                  <a:schemeClr val="tx1"/>
                </a:solidFill>
                <a:latin typeface="Oracle Sans Light" panose="020B0403020204020204" pitchFamily="34" charset="0"/>
                <a:ea typeface="+mn-ea"/>
                <a:cs typeface="Oracle Sans Light" panose="020B0403020204020204" pitchFamily="34" charset="0"/>
              </a:defRPr>
            </a:lvl6pPr>
            <a:lvl7pPr marL="2194560" indent="-182880" algn="l" defTabSz="914400" rtl="0" eaLnBrk="1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Font typeface="System Font Regular"/>
              <a:buChar char="◦"/>
              <a:defRPr sz="1200" b="0" i="0" kern="1200">
                <a:solidFill>
                  <a:schemeClr val="tx1"/>
                </a:solidFill>
                <a:latin typeface="Oracle Sans Light" panose="020B0403020204020204" pitchFamily="34" charset="0"/>
                <a:ea typeface="+mn-ea"/>
                <a:cs typeface="Oracle Sans Light" panose="020B0403020204020204" pitchFamily="34" charset="0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Streamline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Save time, avoid manual errors and accelerate the monthly close by automating the complete revenue management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Improve reporting accuracy by allowing accounting staff to focus on managing exceptions to revenue policy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Improve forecast accuracy with real-time updates on committed, deferred and recognized revenue</a:t>
            </a:r>
          </a:p>
        </p:txBody>
      </p:sp>
      <p:sp>
        <p:nvSpPr>
          <p:cNvPr id="238" name="Content Placeholder 1">
            <a:extLst>
              <a:ext uri="{FF2B5EF4-FFF2-40B4-BE49-F238E27FC236}">
                <a16:creationId xmlns:a16="http://schemas.microsoft.com/office/drawing/2014/main" id="{151E3C7C-24AE-4750-823B-9A2C65A5ABC0}"/>
              </a:ext>
            </a:extLst>
          </p:cNvPr>
          <p:cNvSpPr>
            <a:spLocks noGrp="1"/>
          </p:cNvSpPr>
          <p:nvPr/>
        </p:nvSpPr>
        <p:spPr>
          <a:xfrm>
            <a:off x="6348416" y="2421849"/>
            <a:ext cx="4601922" cy="42608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 sz="1800" b="0" i="0" kern="1200">
                <a:solidFill>
                  <a:schemeClr val="tx1"/>
                </a:solidFill>
                <a:latin typeface="Oracle Sans" panose="020B0503020204020204" pitchFamily="34" charset="0"/>
                <a:ea typeface="+mn-ea"/>
                <a:cs typeface="Oracle Sans" panose="020B0503020204020204" pitchFamily="34" charset="0"/>
              </a:defRPr>
            </a:lvl1pPr>
            <a:lvl2pPr marL="365760" marR="0" indent="-18288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Oracle Sans" panose="020B0503020204020204" pitchFamily="34" charset="0"/>
                <a:ea typeface="+mn-ea"/>
                <a:cs typeface="Oracle Sans" panose="020B0503020204020204" pitchFamily="34" charset="0"/>
              </a:defRPr>
            </a:lvl2pPr>
            <a:lvl3pPr marL="731520" marR="0" indent="-182880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Tx/>
              <a:buSzPct val="120000"/>
              <a:buFont typeface="System Font Regular"/>
              <a:buChar char="-"/>
              <a:tabLst/>
              <a:defRPr sz="1600" kern="1200">
                <a:solidFill>
                  <a:schemeClr val="tx1"/>
                </a:solidFill>
                <a:latin typeface="Oracle Sans Light" panose="020B0403020204020204" pitchFamily="34" charset="0"/>
                <a:ea typeface="+mn-ea"/>
                <a:cs typeface="Oracle Sans Light" panose="020B0403020204020204" pitchFamily="34" charset="0"/>
              </a:defRPr>
            </a:lvl3pPr>
            <a:lvl4pPr marL="1097280" marR="0" indent="-182880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Tx/>
              <a:buSzPct val="100000"/>
              <a:buFont typeface="System Font Regular"/>
              <a:buChar char="◦"/>
              <a:tabLst/>
              <a:defRPr sz="1400" kern="1200">
                <a:solidFill>
                  <a:schemeClr val="tx1"/>
                </a:solidFill>
                <a:latin typeface="Oracle Sans Light" panose="020B0403020204020204" pitchFamily="34" charset="0"/>
                <a:ea typeface="+mn-ea"/>
                <a:cs typeface="Oracle Sans Light" panose="020B0403020204020204" pitchFamily="34" charset="0"/>
              </a:defRPr>
            </a:lvl4pPr>
            <a:lvl5pPr marL="1463040" marR="0" indent="-182880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System Font Regular"/>
              <a:buChar char="•"/>
              <a:tabLst/>
              <a:defRPr sz="1200" kern="1200">
                <a:solidFill>
                  <a:schemeClr val="tx1"/>
                </a:solidFill>
                <a:latin typeface="Oracle Sans Light" panose="020B0403020204020204" pitchFamily="34" charset="0"/>
                <a:ea typeface="+mn-ea"/>
                <a:cs typeface="Oracle Sans Light" panose="020B0403020204020204" pitchFamily="34" charset="0"/>
              </a:defRPr>
            </a:lvl5pPr>
            <a:lvl6pPr marL="1828800" indent="-182880" algn="l" defTabSz="914400" rtl="0" eaLnBrk="1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SzPct val="120000"/>
              <a:buFont typeface="System Font Regular"/>
              <a:buChar char="-"/>
              <a:defRPr sz="1200" b="0" i="0" kern="1200">
                <a:solidFill>
                  <a:schemeClr val="tx1"/>
                </a:solidFill>
                <a:latin typeface="Oracle Sans Light" panose="020B0403020204020204" pitchFamily="34" charset="0"/>
                <a:ea typeface="+mn-ea"/>
                <a:cs typeface="Oracle Sans Light" panose="020B0403020204020204" pitchFamily="34" charset="0"/>
              </a:defRPr>
            </a:lvl6pPr>
            <a:lvl7pPr marL="2194560" indent="-182880" algn="l" defTabSz="914400" rtl="0" eaLnBrk="1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Font typeface="System Font Regular"/>
              <a:buChar char="◦"/>
              <a:defRPr sz="1200" b="0" i="0" kern="1200">
                <a:solidFill>
                  <a:schemeClr val="tx1"/>
                </a:solidFill>
                <a:latin typeface="Oracle Sans Light" panose="020B0403020204020204" pitchFamily="34" charset="0"/>
                <a:ea typeface="+mn-ea"/>
                <a:cs typeface="Oracle Sans Light" panose="020B0403020204020204" pitchFamily="34" charset="0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Measurable Impact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Automating revenue management saves time during the close process, potentially reducing overtime (25-50%)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Reduces administrative time and audit preparation costs by ensuring compliance with accounting standards (5-25%)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Gives companies the flexibility to add varied revenue streams to fuel growth (1-10%)</a:t>
            </a:r>
          </a:p>
        </p:txBody>
      </p: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433FE2D7-0D71-4857-821B-4511EFBFFC88}"/>
              </a:ext>
            </a:extLst>
          </p:cNvPr>
          <p:cNvGrpSpPr/>
          <p:nvPr/>
        </p:nvGrpSpPr>
        <p:grpSpPr>
          <a:xfrm>
            <a:off x="8784451" y="1724714"/>
            <a:ext cx="587375" cy="587375"/>
            <a:chOff x="8756650" y="5634038"/>
            <a:chExt cx="587375" cy="587375"/>
          </a:xfrm>
        </p:grpSpPr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9AFD501E-973C-4AE4-A8C2-2A2CB63102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6650" y="5634038"/>
              <a:ext cx="587375" cy="587375"/>
            </a:xfrm>
            <a:prstGeom prst="ellipse">
              <a:avLst/>
            </a:prstGeom>
            <a:solidFill>
              <a:srgbClr val="56A7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grpSp>
          <p:nvGrpSpPr>
            <p:cNvPr id="253" name="Group 252">
              <a:extLst>
                <a:ext uri="{FF2B5EF4-FFF2-40B4-BE49-F238E27FC236}">
                  <a16:creationId xmlns:a16="http://schemas.microsoft.com/office/drawing/2014/main" id="{E6E9FFAD-C19C-4316-B71A-78EB618F69F8}"/>
                </a:ext>
              </a:extLst>
            </p:cNvPr>
            <p:cNvGrpSpPr/>
            <p:nvPr/>
          </p:nvGrpSpPr>
          <p:grpSpPr>
            <a:xfrm>
              <a:off x="8896350" y="5780088"/>
              <a:ext cx="298451" cy="298450"/>
              <a:chOff x="8896350" y="5780088"/>
              <a:chExt cx="298451" cy="298450"/>
            </a:xfrm>
          </p:grpSpPr>
          <p:sp>
            <p:nvSpPr>
              <p:cNvPr id="254" name="Freeform 190">
                <a:extLst>
                  <a:ext uri="{FF2B5EF4-FFF2-40B4-BE49-F238E27FC236}">
                    <a16:creationId xmlns:a16="http://schemas.microsoft.com/office/drawing/2014/main" id="{E8A2F43B-D3F6-45C9-B688-CA4C9B0695B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107488" y="5883275"/>
                <a:ext cx="87313" cy="193675"/>
              </a:xfrm>
              <a:custGeom>
                <a:avLst/>
                <a:gdLst>
                  <a:gd name="T0" fmla="*/ 105 w 128"/>
                  <a:gd name="T1" fmla="*/ 0 h 283"/>
                  <a:gd name="T2" fmla="*/ 23 w 128"/>
                  <a:gd name="T3" fmla="*/ 0 h 283"/>
                  <a:gd name="T4" fmla="*/ 0 w 128"/>
                  <a:gd name="T5" fmla="*/ 23 h 283"/>
                  <a:gd name="T6" fmla="*/ 0 w 128"/>
                  <a:gd name="T7" fmla="*/ 260 h 283"/>
                  <a:gd name="T8" fmla="*/ 23 w 128"/>
                  <a:gd name="T9" fmla="*/ 283 h 283"/>
                  <a:gd name="T10" fmla="*/ 105 w 128"/>
                  <a:gd name="T11" fmla="*/ 283 h 283"/>
                  <a:gd name="T12" fmla="*/ 128 w 128"/>
                  <a:gd name="T13" fmla="*/ 260 h 283"/>
                  <a:gd name="T14" fmla="*/ 128 w 128"/>
                  <a:gd name="T15" fmla="*/ 23 h 283"/>
                  <a:gd name="T16" fmla="*/ 105 w 128"/>
                  <a:gd name="T17" fmla="*/ 0 h 283"/>
                  <a:gd name="T18" fmla="*/ 104 w 128"/>
                  <a:gd name="T19" fmla="*/ 24 h 283"/>
                  <a:gd name="T20" fmla="*/ 104 w 128"/>
                  <a:gd name="T21" fmla="*/ 51 h 283"/>
                  <a:gd name="T22" fmla="*/ 24 w 128"/>
                  <a:gd name="T23" fmla="*/ 51 h 283"/>
                  <a:gd name="T24" fmla="*/ 24 w 128"/>
                  <a:gd name="T25" fmla="*/ 24 h 283"/>
                  <a:gd name="T26" fmla="*/ 104 w 128"/>
                  <a:gd name="T27" fmla="*/ 24 h 283"/>
                  <a:gd name="T28" fmla="*/ 24 w 128"/>
                  <a:gd name="T29" fmla="*/ 155 h 283"/>
                  <a:gd name="T30" fmla="*/ 24 w 128"/>
                  <a:gd name="T31" fmla="*/ 127 h 283"/>
                  <a:gd name="T32" fmla="*/ 104 w 128"/>
                  <a:gd name="T33" fmla="*/ 127 h 283"/>
                  <a:gd name="T34" fmla="*/ 104 w 128"/>
                  <a:gd name="T35" fmla="*/ 155 h 283"/>
                  <a:gd name="T36" fmla="*/ 24 w 128"/>
                  <a:gd name="T37" fmla="*/ 155 h 283"/>
                  <a:gd name="T38" fmla="*/ 104 w 128"/>
                  <a:gd name="T39" fmla="*/ 179 h 283"/>
                  <a:gd name="T40" fmla="*/ 104 w 128"/>
                  <a:gd name="T41" fmla="*/ 208 h 283"/>
                  <a:gd name="T42" fmla="*/ 24 w 128"/>
                  <a:gd name="T43" fmla="*/ 208 h 283"/>
                  <a:gd name="T44" fmla="*/ 24 w 128"/>
                  <a:gd name="T45" fmla="*/ 179 h 283"/>
                  <a:gd name="T46" fmla="*/ 104 w 128"/>
                  <a:gd name="T47" fmla="*/ 179 h 283"/>
                  <a:gd name="T48" fmla="*/ 24 w 128"/>
                  <a:gd name="T49" fmla="*/ 103 h 283"/>
                  <a:gd name="T50" fmla="*/ 24 w 128"/>
                  <a:gd name="T51" fmla="*/ 75 h 283"/>
                  <a:gd name="T52" fmla="*/ 104 w 128"/>
                  <a:gd name="T53" fmla="*/ 75 h 283"/>
                  <a:gd name="T54" fmla="*/ 104 w 128"/>
                  <a:gd name="T55" fmla="*/ 103 h 283"/>
                  <a:gd name="T56" fmla="*/ 24 w 128"/>
                  <a:gd name="T57" fmla="*/ 103 h 283"/>
                  <a:gd name="T58" fmla="*/ 24 w 128"/>
                  <a:gd name="T59" fmla="*/ 259 h 283"/>
                  <a:gd name="T60" fmla="*/ 24 w 128"/>
                  <a:gd name="T61" fmla="*/ 232 h 283"/>
                  <a:gd name="T62" fmla="*/ 104 w 128"/>
                  <a:gd name="T63" fmla="*/ 232 h 283"/>
                  <a:gd name="T64" fmla="*/ 104 w 128"/>
                  <a:gd name="T65" fmla="*/ 259 h 283"/>
                  <a:gd name="T66" fmla="*/ 24 w 128"/>
                  <a:gd name="T67" fmla="*/ 259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28" h="283">
                    <a:moveTo>
                      <a:pt x="105" y="0"/>
                    </a:moveTo>
                    <a:cubicBezTo>
                      <a:pt x="23" y="0"/>
                      <a:pt x="23" y="0"/>
                      <a:pt x="23" y="0"/>
                    </a:cubicBezTo>
                    <a:cubicBezTo>
                      <a:pt x="11" y="0"/>
                      <a:pt x="0" y="11"/>
                      <a:pt x="0" y="23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272"/>
                      <a:pt x="11" y="283"/>
                      <a:pt x="23" y="283"/>
                    </a:cubicBezTo>
                    <a:cubicBezTo>
                      <a:pt x="105" y="283"/>
                      <a:pt x="105" y="283"/>
                      <a:pt x="105" y="283"/>
                    </a:cubicBezTo>
                    <a:cubicBezTo>
                      <a:pt x="118" y="283"/>
                      <a:pt x="128" y="272"/>
                      <a:pt x="128" y="260"/>
                    </a:cubicBezTo>
                    <a:cubicBezTo>
                      <a:pt x="128" y="23"/>
                      <a:pt x="128" y="23"/>
                      <a:pt x="128" y="23"/>
                    </a:cubicBezTo>
                    <a:cubicBezTo>
                      <a:pt x="128" y="11"/>
                      <a:pt x="118" y="0"/>
                      <a:pt x="105" y="0"/>
                    </a:cubicBezTo>
                    <a:close/>
                    <a:moveTo>
                      <a:pt x="104" y="24"/>
                    </a:moveTo>
                    <a:cubicBezTo>
                      <a:pt x="104" y="51"/>
                      <a:pt x="104" y="51"/>
                      <a:pt x="104" y="51"/>
                    </a:cubicBezTo>
                    <a:cubicBezTo>
                      <a:pt x="24" y="51"/>
                      <a:pt x="24" y="51"/>
                      <a:pt x="24" y="51"/>
                    </a:cubicBezTo>
                    <a:cubicBezTo>
                      <a:pt x="24" y="24"/>
                      <a:pt x="24" y="24"/>
                      <a:pt x="24" y="24"/>
                    </a:cubicBezTo>
                    <a:lnTo>
                      <a:pt x="104" y="24"/>
                    </a:lnTo>
                    <a:close/>
                    <a:moveTo>
                      <a:pt x="24" y="155"/>
                    </a:moveTo>
                    <a:cubicBezTo>
                      <a:pt x="24" y="127"/>
                      <a:pt x="24" y="127"/>
                      <a:pt x="24" y="127"/>
                    </a:cubicBezTo>
                    <a:cubicBezTo>
                      <a:pt x="104" y="127"/>
                      <a:pt x="104" y="127"/>
                      <a:pt x="104" y="127"/>
                    </a:cubicBezTo>
                    <a:cubicBezTo>
                      <a:pt x="104" y="155"/>
                      <a:pt x="104" y="155"/>
                      <a:pt x="104" y="155"/>
                    </a:cubicBezTo>
                    <a:lnTo>
                      <a:pt x="24" y="155"/>
                    </a:lnTo>
                    <a:close/>
                    <a:moveTo>
                      <a:pt x="104" y="179"/>
                    </a:moveTo>
                    <a:cubicBezTo>
                      <a:pt x="104" y="208"/>
                      <a:pt x="104" y="208"/>
                      <a:pt x="104" y="208"/>
                    </a:cubicBezTo>
                    <a:cubicBezTo>
                      <a:pt x="24" y="208"/>
                      <a:pt x="24" y="208"/>
                      <a:pt x="24" y="208"/>
                    </a:cubicBezTo>
                    <a:cubicBezTo>
                      <a:pt x="24" y="179"/>
                      <a:pt x="24" y="179"/>
                      <a:pt x="24" y="179"/>
                    </a:cubicBezTo>
                    <a:lnTo>
                      <a:pt x="104" y="179"/>
                    </a:lnTo>
                    <a:close/>
                    <a:moveTo>
                      <a:pt x="24" y="103"/>
                    </a:moveTo>
                    <a:cubicBezTo>
                      <a:pt x="24" y="75"/>
                      <a:pt x="24" y="75"/>
                      <a:pt x="24" y="75"/>
                    </a:cubicBezTo>
                    <a:cubicBezTo>
                      <a:pt x="104" y="75"/>
                      <a:pt x="104" y="75"/>
                      <a:pt x="104" y="75"/>
                    </a:cubicBezTo>
                    <a:cubicBezTo>
                      <a:pt x="104" y="103"/>
                      <a:pt x="104" y="103"/>
                      <a:pt x="104" y="103"/>
                    </a:cubicBezTo>
                    <a:lnTo>
                      <a:pt x="24" y="103"/>
                    </a:lnTo>
                    <a:close/>
                    <a:moveTo>
                      <a:pt x="24" y="259"/>
                    </a:moveTo>
                    <a:cubicBezTo>
                      <a:pt x="24" y="232"/>
                      <a:pt x="24" y="232"/>
                      <a:pt x="24" y="232"/>
                    </a:cubicBezTo>
                    <a:cubicBezTo>
                      <a:pt x="104" y="232"/>
                      <a:pt x="104" y="232"/>
                      <a:pt x="104" y="232"/>
                    </a:cubicBezTo>
                    <a:cubicBezTo>
                      <a:pt x="104" y="259"/>
                      <a:pt x="104" y="259"/>
                      <a:pt x="104" y="259"/>
                    </a:cubicBezTo>
                    <a:lnTo>
                      <a:pt x="24" y="259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55" name="Freeform 191">
                <a:extLst>
                  <a:ext uri="{FF2B5EF4-FFF2-40B4-BE49-F238E27FC236}">
                    <a16:creationId xmlns:a16="http://schemas.microsoft.com/office/drawing/2014/main" id="{E819A32A-E182-402A-8652-C2A2819475E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002713" y="5953125"/>
                <a:ext cx="87313" cy="123825"/>
              </a:xfrm>
              <a:custGeom>
                <a:avLst/>
                <a:gdLst>
                  <a:gd name="T0" fmla="*/ 105 w 128"/>
                  <a:gd name="T1" fmla="*/ 0 h 182"/>
                  <a:gd name="T2" fmla="*/ 23 w 128"/>
                  <a:gd name="T3" fmla="*/ 0 h 182"/>
                  <a:gd name="T4" fmla="*/ 0 w 128"/>
                  <a:gd name="T5" fmla="*/ 23 h 182"/>
                  <a:gd name="T6" fmla="*/ 0 w 128"/>
                  <a:gd name="T7" fmla="*/ 159 h 182"/>
                  <a:gd name="T8" fmla="*/ 23 w 128"/>
                  <a:gd name="T9" fmla="*/ 182 h 182"/>
                  <a:gd name="T10" fmla="*/ 105 w 128"/>
                  <a:gd name="T11" fmla="*/ 182 h 182"/>
                  <a:gd name="T12" fmla="*/ 128 w 128"/>
                  <a:gd name="T13" fmla="*/ 159 h 182"/>
                  <a:gd name="T14" fmla="*/ 128 w 128"/>
                  <a:gd name="T15" fmla="*/ 23 h 182"/>
                  <a:gd name="T16" fmla="*/ 105 w 128"/>
                  <a:gd name="T17" fmla="*/ 0 h 182"/>
                  <a:gd name="T18" fmla="*/ 104 w 128"/>
                  <a:gd name="T19" fmla="*/ 24 h 182"/>
                  <a:gd name="T20" fmla="*/ 104 w 128"/>
                  <a:gd name="T21" fmla="*/ 53 h 182"/>
                  <a:gd name="T22" fmla="*/ 24 w 128"/>
                  <a:gd name="T23" fmla="*/ 53 h 182"/>
                  <a:gd name="T24" fmla="*/ 24 w 128"/>
                  <a:gd name="T25" fmla="*/ 24 h 182"/>
                  <a:gd name="T26" fmla="*/ 104 w 128"/>
                  <a:gd name="T27" fmla="*/ 24 h 182"/>
                  <a:gd name="T28" fmla="*/ 104 w 128"/>
                  <a:gd name="T29" fmla="*/ 77 h 182"/>
                  <a:gd name="T30" fmla="*/ 104 w 128"/>
                  <a:gd name="T31" fmla="*/ 105 h 182"/>
                  <a:gd name="T32" fmla="*/ 24 w 128"/>
                  <a:gd name="T33" fmla="*/ 105 h 182"/>
                  <a:gd name="T34" fmla="*/ 24 w 128"/>
                  <a:gd name="T35" fmla="*/ 77 h 182"/>
                  <a:gd name="T36" fmla="*/ 104 w 128"/>
                  <a:gd name="T37" fmla="*/ 77 h 182"/>
                  <a:gd name="T38" fmla="*/ 24 w 128"/>
                  <a:gd name="T39" fmla="*/ 158 h 182"/>
                  <a:gd name="T40" fmla="*/ 24 w 128"/>
                  <a:gd name="T41" fmla="*/ 129 h 182"/>
                  <a:gd name="T42" fmla="*/ 104 w 128"/>
                  <a:gd name="T43" fmla="*/ 129 h 182"/>
                  <a:gd name="T44" fmla="*/ 104 w 128"/>
                  <a:gd name="T45" fmla="*/ 158 h 182"/>
                  <a:gd name="T46" fmla="*/ 24 w 128"/>
                  <a:gd name="T47" fmla="*/ 158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28" h="182">
                    <a:moveTo>
                      <a:pt x="105" y="0"/>
                    </a:moveTo>
                    <a:cubicBezTo>
                      <a:pt x="23" y="0"/>
                      <a:pt x="23" y="0"/>
                      <a:pt x="23" y="0"/>
                    </a:cubicBezTo>
                    <a:cubicBezTo>
                      <a:pt x="11" y="0"/>
                      <a:pt x="0" y="11"/>
                      <a:pt x="0" y="23"/>
                    </a:cubicBezTo>
                    <a:cubicBezTo>
                      <a:pt x="0" y="159"/>
                      <a:pt x="0" y="159"/>
                      <a:pt x="0" y="159"/>
                    </a:cubicBezTo>
                    <a:cubicBezTo>
                      <a:pt x="0" y="172"/>
                      <a:pt x="11" y="182"/>
                      <a:pt x="23" y="182"/>
                    </a:cubicBezTo>
                    <a:cubicBezTo>
                      <a:pt x="105" y="182"/>
                      <a:pt x="105" y="182"/>
                      <a:pt x="105" y="182"/>
                    </a:cubicBezTo>
                    <a:cubicBezTo>
                      <a:pt x="118" y="182"/>
                      <a:pt x="128" y="172"/>
                      <a:pt x="128" y="159"/>
                    </a:cubicBezTo>
                    <a:cubicBezTo>
                      <a:pt x="128" y="23"/>
                      <a:pt x="128" y="23"/>
                      <a:pt x="128" y="23"/>
                    </a:cubicBezTo>
                    <a:cubicBezTo>
                      <a:pt x="128" y="11"/>
                      <a:pt x="118" y="0"/>
                      <a:pt x="105" y="0"/>
                    </a:cubicBezTo>
                    <a:close/>
                    <a:moveTo>
                      <a:pt x="104" y="24"/>
                    </a:moveTo>
                    <a:cubicBezTo>
                      <a:pt x="104" y="53"/>
                      <a:pt x="104" y="53"/>
                      <a:pt x="104" y="53"/>
                    </a:cubicBezTo>
                    <a:cubicBezTo>
                      <a:pt x="24" y="53"/>
                      <a:pt x="24" y="53"/>
                      <a:pt x="24" y="53"/>
                    </a:cubicBezTo>
                    <a:cubicBezTo>
                      <a:pt x="24" y="24"/>
                      <a:pt x="24" y="24"/>
                      <a:pt x="24" y="24"/>
                    </a:cubicBezTo>
                    <a:lnTo>
                      <a:pt x="104" y="24"/>
                    </a:lnTo>
                    <a:close/>
                    <a:moveTo>
                      <a:pt x="104" y="77"/>
                    </a:moveTo>
                    <a:cubicBezTo>
                      <a:pt x="104" y="105"/>
                      <a:pt x="104" y="105"/>
                      <a:pt x="104" y="105"/>
                    </a:cubicBezTo>
                    <a:cubicBezTo>
                      <a:pt x="24" y="105"/>
                      <a:pt x="24" y="105"/>
                      <a:pt x="24" y="105"/>
                    </a:cubicBezTo>
                    <a:cubicBezTo>
                      <a:pt x="24" y="77"/>
                      <a:pt x="24" y="77"/>
                      <a:pt x="24" y="77"/>
                    </a:cubicBezTo>
                    <a:lnTo>
                      <a:pt x="104" y="77"/>
                    </a:lnTo>
                    <a:close/>
                    <a:moveTo>
                      <a:pt x="24" y="158"/>
                    </a:moveTo>
                    <a:cubicBezTo>
                      <a:pt x="24" y="129"/>
                      <a:pt x="24" y="129"/>
                      <a:pt x="24" y="129"/>
                    </a:cubicBezTo>
                    <a:cubicBezTo>
                      <a:pt x="104" y="129"/>
                      <a:pt x="104" y="129"/>
                      <a:pt x="104" y="129"/>
                    </a:cubicBezTo>
                    <a:cubicBezTo>
                      <a:pt x="104" y="158"/>
                      <a:pt x="104" y="158"/>
                      <a:pt x="104" y="158"/>
                    </a:cubicBezTo>
                    <a:lnTo>
                      <a:pt x="24" y="158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56" name="Freeform 192">
                <a:extLst>
                  <a:ext uri="{FF2B5EF4-FFF2-40B4-BE49-F238E27FC236}">
                    <a16:creationId xmlns:a16="http://schemas.microsoft.com/office/drawing/2014/main" id="{FC0BF6FB-6740-429A-997A-4C981DFFAF5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96350" y="5989638"/>
                <a:ext cx="87313" cy="88900"/>
              </a:xfrm>
              <a:custGeom>
                <a:avLst/>
                <a:gdLst>
                  <a:gd name="T0" fmla="*/ 105 w 128"/>
                  <a:gd name="T1" fmla="*/ 0 h 130"/>
                  <a:gd name="T2" fmla="*/ 23 w 128"/>
                  <a:gd name="T3" fmla="*/ 0 h 130"/>
                  <a:gd name="T4" fmla="*/ 0 w 128"/>
                  <a:gd name="T5" fmla="*/ 23 h 130"/>
                  <a:gd name="T6" fmla="*/ 0 w 128"/>
                  <a:gd name="T7" fmla="*/ 107 h 130"/>
                  <a:gd name="T8" fmla="*/ 23 w 128"/>
                  <a:gd name="T9" fmla="*/ 130 h 130"/>
                  <a:gd name="T10" fmla="*/ 105 w 128"/>
                  <a:gd name="T11" fmla="*/ 130 h 130"/>
                  <a:gd name="T12" fmla="*/ 128 w 128"/>
                  <a:gd name="T13" fmla="*/ 107 h 130"/>
                  <a:gd name="T14" fmla="*/ 128 w 128"/>
                  <a:gd name="T15" fmla="*/ 23 h 130"/>
                  <a:gd name="T16" fmla="*/ 105 w 128"/>
                  <a:gd name="T17" fmla="*/ 0 h 130"/>
                  <a:gd name="T18" fmla="*/ 104 w 128"/>
                  <a:gd name="T19" fmla="*/ 24 h 130"/>
                  <a:gd name="T20" fmla="*/ 104 w 128"/>
                  <a:gd name="T21" fmla="*/ 53 h 130"/>
                  <a:gd name="T22" fmla="*/ 24 w 128"/>
                  <a:gd name="T23" fmla="*/ 53 h 130"/>
                  <a:gd name="T24" fmla="*/ 24 w 128"/>
                  <a:gd name="T25" fmla="*/ 24 h 130"/>
                  <a:gd name="T26" fmla="*/ 104 w 128"/>
                  <a:gd name="T27" fmla="*/ 24 h 130"/>
                  <a:gd name="T28" fmla="*/ 24 w 128"/>
                  <a:gd name="T29" fmla="*/ 106 h 130"/>
                  <a:gd name="T30" fmla="*/ 24 w 128"/>
                  <a:gd name="T31" fmla="*/ 77 h 130"/>
                  <a:gd name="T32" fmla="*/ 104 w 128"/>
                  <a:gd name="T33" fmla="*/ 77 h 130"/>
                  <a:gd name="T34" fmla="*/ 104 w 128"/>
                  <a:gd name="T35" fmla="*/ 106 h 130"/>
                  <a:gd name="T36" fmla="*/ 24 w 128"/>
                  <a:gd name="T37" fmla="*/ 106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8" h="130">
                    <a:moveTo>
                      <a:pt x="105" y="0"/>
                    </a:move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3"/>
                    </a:cubicBezTo>
                    <a:cubicBezTo>
                      <a:pt x="0" y="107"/>
                      <a:pt x="0" y="107"/>
                      <a:pt x="0" y="107"/>
                    </a:cubicBezTo>
                    <a:cubicBezTo>
                      <a:pt x="0" y="120"/>
                      <a:pt x="10" y="130"/>
                      <a:pt x="23" y="130"/>
                    </a:cubicBezTo>
                    <a:cubicBezTo>
                      <a:pt x="105" y="130"/>
                      <a:pt x="105" y="130"/>
                      <a:pt x="105" y="130"/>
                    </a:cubicBezTo>
                    <a:cubicBezTo>
                      <a:pt x="118" y="130"/>
                      <a:pt x="128" y="120"/>
                      <a:pt x="128" y="107"/>
                    </a:cubicBezTo>
                    <a:cubicBezTo>
                      <a:pt x="128" y="23"/>
                      <a:pt x="128" y="23"/>
                      <a:pt x="128" y="23"/>
                    </a:cubicBezTo>
                    <a:cubicBezTo>
                      <a:pt x="128" y="10"/>
                      <a:pt x="118" y="0"/>
                      <a:pt x="105" y="0"/>
                    </a:cubicBezTo>
                    <a:close/>
                    <a:moveTo>
                      <a:pt x="104" y="24"/>
                    </a:moveTo>
                    <a:cubicBezTo>
                      <a:pt x="104" y="53"/>
                      <a:pt x="104" y="53"/>
                      <a:pt x="104" y="53"/>
                    </a:cubicBezTo>
                    <a:cubicBezTo>
                      <a:pt x="24" y="53"/>
                      <a:pt x="24" y="53"/>
                      <a:pt x="24" y="53"/>
                    </a:cubicBezTo>
                    <a:cubicBezTo>
                      <a:pt x="24" y="24"/>
                      <a:pt x="24" y="24"/>
                      <a:pt x="24" y="24"/>
                    </a:cubicBezTo>
                    <a:lnTo>
                      <a:pt x="104" y="24"/>
                    </a:lnTo>
                    <a:close/>
                    <a:moveTo>
                      <a:pt x="24" y="106"/>
                    </a:moveTo>
                    <a:cubicBezTo>
                      <a:pt x="24" y="77"/>
                      <a:pt x="24" y="77"/>
                      <a:pt x="24" y="77"/>
                    </a:cubicBezTo>
                    <a:cubicBezTo>
                      <a:pt x="104" y="77"/>
                      <a:pt x="104" y="77"/>
                      <a:pt x="104" y="77"/>
                    </a:cubicBezTo>
                    <a:cubicBezTo>
                      <a:pt x="104" y="106"/>
                      <a:pt x="104" y="106"/>
                      <a:pt x="104" y="106"/>
                    </a:cubicBezTo>
                    <a:lnTo>
                      <a:pt x="24" y="106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57" name="Freeform 193">
                <a:extLst>
                  <a:ext uri="{FF2B5EF4-FFF2-40B4-BE49-F238E27FC236}">
                    <a16:creationId xmlns:a16="http://schemas.microsoft.com/office/drawing/2014/main" id="{621008A5-F8EF-4DDF-BDFC-3391AC425D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26513" y="5780088"/>
                <a:ext cx="236538" cy="160337"/>
              </a:xfrm>
              <a:custGeom>
                <a:avLst/>
                <a:gdLst>
                  <a:gd name="T0" fmla="*/ 13 w 346"/>
                  <a:gd name="T1" fmla="*/ 235 h 235"/>
                  <a:gd name="T2" fmla="*/ 22 w 346"/>
                  <a:gd name="T3" fmla="*/ 232 h 235"/>
                  <a:gd name="T4" fmla="*/ 122 w 346"/>
                  <a:gd name="T5" fmla="*/ 132 h 235"/>
                  <a:gd name="T6" fmla="*/ 162 w 346"/>
                  <a:gd name="T7" fmla="*/ 171 h 235"/>
                  <a:gd name="T8" fmla="*/ 176 w 346"/>
                  <a:gd name="T9" fmla="*/ 177 h 235"/>
                  <a:gd name="T10" fmla="*/ 190 w 346"/>
                  <a:gd name="T11" fmla="*/ 171 h 235"/>
                  <a:gd name="T12" fmla="*/ 322 w 346"/>
                  <a:gd name="T13" fmla="*/ 39 h 235"/>
                  <a:gd name="T14" fmla="*/ 322 w 346"/>
                  <a:gd name="T15" fmla="*/ 64 h 235"/>
                  <a:gd name="T16" fmla="*/ 334 w 346"/>
                  <a:gd name="T17" fmla="*/ 76 h 235"/>
                  <a:gd name="T18" fmla="*/ 346 w 346"/>
                  <a:gd name="T19" fmla="*/ 64 h 235"/>
                  <a:gd name="T20" fmla="*/ 346 w 346"/>
                  <a:gd name="T21" fmla="*/ 17 h 235"/>
                  <a:gd name="T22" fmla="*/ 328 w 346"/>
                  <a:gd name="T23" fmla="*/ 0 h 235"/>
                  <a:gd name="T24" fmla="*/ 281 w 346"/>
                  <a:gd name="T25" fmla="*/ 0 h 235"/>
                  <a:gd name="T26" fmla="*/ 269 w 346"/>
                  <a:gd name="T27" fmla="*/ 12 h 235"/>
                  <a:gd name="T28" fmla="*/ 281 w 346"/>
                  <a:gd name="T29" fmla="*/ 24 h 235"/>
                  <a:gd name="T30" fmla="*/ 303 w 346"/>
                  <a:gd name="T31" fmla="*/ 24 h 235"/>
                  <a:gd name="T32" fmla="*/ 176 w 346"/>
                  <a:gd name="T33" fmla="*/ 151 h 235"/>
                  <a:gd name="T34" fmla="*/ 136 w 346"/>
                  <a:gd name="T35" fmla="*/ 111 h 235"/>
                  <a:gd name="T36" fmla="*/ 122 w 346"/>
                  <a:gd name="T37" fmla="*/ 106 h 235"/>
                  <a:gd name="T38" fmla="*/ 109 w 346"/>
                  <a:gd name="T39" fmla="*/ 111 h 235"/>
                  <a:gd name="T40" fmla="*/ 5 w 346"/>
                  <a:gd name="T41" fmla="*/ 215 h 235"/>
                  <a:gd name="T42" fmla="*/ 5 w 346"/>
                  <a:gd name="T43" fmla="*/ 232 h 235"/>
                  <a:gd name="T44" fmla="*/ 13 w 346"/>
                  <a:gd name="T45" fmla="*/ 235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46" h="235">
                    <a:moveTo>
                      <a:pt x="13" y="235"/>
                    </a:moveTo>
                    <a:cubicBezTo>
                      <a:pt x="16" y="235"/>
                      <a:pt x="20" y="234"/>
                      <a:pt x="22" y="232"/>
                    </a:cubicBezTo>
                    <a:cubicBezTo>
                      <a:pt x="122" y="132"/>
                      <a:pt x="122" y="132"/>
                      <a:pt x="122" y="132"/>
                    </a:cubicBezTo>
                    <a:cubicBezTo>
                      <a:pt x="162" y="171"/>
                      <a:pt x="162" y="171"/>
                      <a:pt x="162" y="171"/>
                    </a:cubicBezTo>
                    <a:cubicBezTo>
                      <a:pt x="166" y="175"/>
                      <a:pt x="171" y="177"/>
                      <a:pt x="176" y="177"/>
                    </a:cubicBezTo>
                    <a:cubicBezTo>
                      <a:pt x="181" y="177"/>
                      <a:pt x="186" y="175"/>
                      <a:pt x="190" y="171"/>
                    </a:cubicBezTo>
                    <a:cubicBezTo>
                      <a:pt x="322" y="39"/>
                      <a:pt x="322" y="39"/>
                      <a:pt x="322" y="39"/>
                    </a:cubicBezTo>
                    <a:cubicBezTo>
                      <a:pt x="322" y="64"/>
                      <a:pt x="322" y="64"/>
                      <a:pt x="322" y="64"/>
                    </a:cubicBezTo>
                    <a:cubicBezTo>
                      <a:pt x="322" y="71"/>
                      <a:pt x="327" y="76"/>
                      <a:pt x="334" y="76"/>
                    </a:cubicBezTo>
                    <a:cubicBezTo>
                      <a:pt x="340" y="76"/>
                      <a:pt x="346" y="71"/>
                      <a:pt x="346" y="64"/>
                    </a:cubicBezTo>
                    <a:cubicBezTo>
                      <a:pt x="346" y="17"/>
                      <a:pt x="346" y="17"/>
                      <a:pt x="346" y="17"/>
                    </a:cubicBezTo>
                    <a:cubicBezTo>
                      <a:pt x="346" y="7"/>
                      <a:pt x="338" y="0"/>
                      <a:pt x="328" y="0"/>
                    </a:cubicBezTo>
                    <a:cubicBezTo>
                      <a:pt x="281" y="0"/>
                      <a:pt x="281" y="0"/>
                      <a:pt x="281" y="0"/>
                    </a:cubicBezTo>
                    <a:cubicBezTo>
                      <a:pt x="274" y="0"/>
                      <a:pt x="269" y="5"/>
                      <a:pt x="269" y="12"/>
                    </a:cubicBezTo>
                    <a:cubicBezTo>
                      <a:pt x="269" y="18"/>
                      <a:pt x="274" y="24"/>
                      <a:pt x="281" y="24"/>
                    </a:cubicBezTo>
                    <a:cubicBezTo>
                      <a:pt x="303" y="24"/>
                      <a:pt x="303" y="24"/>
                      <a:pt x="303" y="24"/>
                    </a:cubicBezTo>
                    <a:cubicBezTo>
                      <a:pt x="176" y="151"/>
                      <a:pt x="176" y="151"/>
                      <a:pt x="176" y="151"/>
                    </a:cubicBezTo>
                    <a:cubicBezTo>
                      <a:pt x="136" y="111"/>
                      <a:pt x="136" y="111"/>
                      <a:pt x="136" y="111"/>
                    </a:cubicBezTo>
                    <a:cubicBezTo>
                      <a:pt x="132" y="108"/>
                      <a:pt x="127" y="106"/>
                      <a:pt x="122" y="106"/>
                    </a:cubicBezTo>
                    <a:cubicBezTo>
                      <a:pt x="117" y="106"/>
                      <a:pt x="112" y="108"/>
                      <a:pt x="109" y="111"/>
                    </a:cubicBezTo>
                    <a:cubicBezTo>
                      <a:pt x="5" y="215"/>
                      <a:pt x="5" y="215"/>
                      <a:pt x="5" y="215"/>
                    </a:cubicBezTo>
                    <a:cubicBezTo>
                      <a:pt x="0" y="220"/>
                      <a:pt x="0" y="227"/>
                      <a:pt x="5" y="232"/>
                    </a:cubicBezTo>
                    <a:cubicBezTo>
                      <a:pt x="7" y="234"/>
                      <a:pt x="10" y="235"/>
                      <a:pt x="13" y="235"/>
                    </a:cubicBez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BAB69F48-B1F4-47CA-8E5E-478CFFF567A7}"/>
              </a:ext>
            </a:extLst>
          </p:cNvPr>
          <p:cNvGrpSpPr/>
          <p:nvPr/>
        </p:nvGrpSpPr>
        <p:grpSpPr>
          <a:xfrm>
            <a:off x="3018363" y="1740589"/>
            <a:ext cx="585788" cy="587375"/>
            <a:chOff x="6397625" y="3290888"/>
            <a:chExt cx="585788" cy="587375"/>
          </a:xfrm>
        </p:grpSpPr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3D0F21F8-E34C-4865-9A9A-A1DD9F415A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7625" y="3290888"/>
              <a:ext cx="585788" cy="587375"/>
            </a:xfrm>
            <a:prstGeom prst="ellipse">
              <a:avLst/>
            </a:prstGeom>
            <a:solidFill>
              <a:srgbClr val="56A7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734579DB-B8B6-4D56-8394-E3225B85FCFB}"/>
                </a:ext>
              </a:extLst>
            </p:cNvPr>
            <p:cNvGrpSpPr/>
            <p:nvPr/>
          </p:nvGrpSpPr>
          <p:grpSpPr>
            <a:xfrm>
              <a:off x="6546850" y="3398838"/>
              <a:ext cx="288926" cy="338137"/>
              <a:chOff x="6546850" y="3398838"/>
              <a:chExt cx="288926" cy="338137"/>
            </a:xfrm>
          </p:grpSpPr>
          <p:sp>
            <p:nvSpPr>
              <p:cNvPr id="243" name="Freeform 164">
                <a:extLst>
                  <a:ext uri="{FF2B5EF4-FFF2-40B4-BE49-F238E27FC236}">
                    <a16:creationId xmlns:a16="http://schemas.microsoft.com/office/drawing/2014/main" id="{3BE12E67-8F76-47DE-8E0E-9388D7C3939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96063" y="3398838"/>
                <a:ext cx="190500" cy="190500"/>
              </a:xfrm>
              <a:custGeom>
                <a:avLst/>
                <a:gdLst>
                  <a:gd name="T0" fmla="*/ 178 w 280"/>
                  <a:gd name="T1" fmla="*/ 236 h 280"/>
                  <a:gd name="T2" fmla="*/ 201 w 280"/>
                  <a:gd name="T3" fmla="*/ 255 h 280"/>
                  <a:gd name="T4" fmla="*/ 255 w 280"/>
                  <a:gd name="T5" fmla="*/ 223 h 280"/>
                  <a:gd name="T6" fmla="*/ 255 w 280"/>
                  <a:gd name="T7" fmla="*/ 201 h 280"/>
                  <a:gd name="T8" fmla="*/ 236 w 280"/>
                  <a:gd name="T9" fmla="*/ 178 h 280"/>
                  <a:gd name="T10" fmla="*/ 280 w 280"/>
                  <a:gd name="T11" fmla="*/ 162 h 280"/>
                  <a:gd name="T12" fmla="*/ 264 w 280"/>
                  <a:gd name="T13" fmla="*/ 102 h 280"/>
                  <a:gd name="T14" fmla="*/ 235 w 280"/>
                  <a:gd name="T15" fmla="*/ 99 h 280"/>
                  <a:gd name="T16" fmla="*/ 255 w 280"/>
                  <a:gd name="T17" fmla="*/ 57 h 280"/>
                  <a:gd name="T18" fmla="*/ 201 w 280"/>
                  <a:gd name="T19" fmla="*/ 25 h 280"/>
                  <a:gd name="T20" fmla="*/ 178 w 280"/>
                  <a:gd name="T21" fmla="*/ 44 h 280"/>
                  <a:gd name="T22" fmla="*/ 162 w 280"/>
                  <a:gd name="T23" fmla="*/ 0 h 280"/>
                  <a:gd name="T24" fmla="*/ 102 w 280"/>
                  <a:gd name="T25" fmla="*/ 16 h 280"/>
                  <a:gd name="T26" fmla="*/ 99 w 280"/>
                  <a:gd name="T27" fmla="*/ 45 h 280"/>
                  <a:gd name="T28" fmla="*/ 57 w 280"/>
                  <a:gd name="T29" fmla="*/ 25 h 280"/>
                  <a:gd name="T30" fmla="*/ 25 w 280"/>
                  <a:gd name="T31" fmla="*/ 79 h 280"/>
                  <a:gd name="T32" fmla="*/ 44 w 280"/>
                  <a:gd name="T33" fmla="*/ 102 h 280"/>
                  <a:gd name="T34" fmla="*/ 0 w 280"/>
                  <a:gd name="T35" fmla="*/ 118 h 280"/>
                  <a:gd name="T36" fmla="*/ 16 w 280"/>
                  <a:gd name="T37" fmla="*/ 178 h 280"/>
                  <a:gd name="T38" fmla="*/ 45 w 280"/>
                  <a:gd name="T39" fmla="*/ 181 h 280"/>
                  <a:gd name="T40" fmla="*/ 21 w 280"/>
                  <a:gd name="T41" fmla="*/ 212 h 280"/>
                  <a:gd name="T42" fmla="*/ 57 w 280"/>
                  <a:gd name="T43" fmla="*/ 255 h 280"/>
                  <a:gd name="T44" fmla="*/ 99 w 280"/>
                  <a:gd name="T45" fmla="*/ 235 h 280"/>
                  <a:gd name="T46" fmla="*/ 102 w 280"/>
                  <a:gd name="T47" fmla="*/ 264 h 280"/>
                  <a:gd name="T48" fmla="*/ 162 w 280"/>
                  <a:gd name="T49" fmla="*/ 280 h 280"/>
                  <a:gd name="T50" fmla="*/ 154 w 280"/>
                  <a:gd name="T51" fmla="*/ 230 h 280"/>
                  <a:gd name="T52" fmla="*/ 126 w 280"/>
                  <a:gd name="T53" fmla="*/ 256 h 280"/>
                  <a:gd name="T54" fmla="*/ 115 w 280"/>
                  <a:gd name="T55" fmla="*/ 215 h 280"/>
                  <a:gd name="T56" fmla="*/ 86 w 280"/>
                  <a:gd name="T57" fmla="*/ 213 h 280"/>
                  <a:gd name="T58" fmla="*/ 48 w 280"/>
                  <a:gd name="T59" fmla="*/ 212 h 280"/>
                  <a:gd name="T60" fmla="*/ 69 w 280"/>
                  <a:gd name="T61" fmla="*/ 175 h 280"/>
                  <a:gd name="T62" fmla="*/ 50 w 280"/>
                  <a:gd name="T63" fmla="*/ 154 h 280"/>
                  <a:gd name="T64" fmla="*/ 24 w 280"/>
                  <a:gd name="T65" fmla="*/ 126 h 280"/>
                  <a:gd name="T66" fmla="*/ 65 w 280"/>
                  <a:gd name="T67" fmla="*/ 115 h 280"/>
                  <a:gd name="T68" fmla="*/ 66 w 280"/>
                  <a:gd name="T69" fmla="*/ 86 h 280"/>
                  <a:gd name="T70" fmla="*/ 68 w 280"/>
                  <a:gd name="T71" fmla="*/ 48 h 280"/>
                  <a:gd name="T72" fmla="*/ 104 w 280"/>
                  <a:gd name="T73" fmla="*/ 69 h 280"/>
                  <a:gd name="T74" fmla="*/ 126 w 280"/>
                  <a:gd name="T75" fmla="*/ 50 h 280"/>
                  <a:gd name="T76" fmla="*/ 154 w 280"/>
                  <a:gd name="T77" fmla="*/ 24 h 280"/>
                  <a:gd name="T78" fmla="*/ 165 w 280"/>
                  <a:gd name="T79" fmla="*/ 65 h 280"/>
                  <a:gd name="T80" fmla="*/ 194 w 280"/>
                  <a:gd name="T81" fmla="*/ 66 h 280"/>
                  <a:gd name="T82" fmla="*/ 232 w 280"/>
                  <a:gd name="T83" fmla="*/ 68 h 280"/>
                  <a:gd name="T84" fmla="*/ 211 w 280"/>
                  <a:gd name="T85" fmla="*/ 104 h 280"/>
                  <a:gd name="T86" fmla="*/ 230 w 280"/>
                  <a:gd name="T87" fmla="*/ 126 h 280"/>
                  <a:gd name="T88" fmla="*/ 256 w 280"/>
                  <a:gd name="T89" fmla="*/ 154 h 280"/>
                  <a:gd name="T90" fmla="*/ 215 w 280"/>
                  <a:gd name="T91" fmla="*/ 165 h 280"/>
                  <a:gd name="T92" fmla="*/ 213 w 280"/>
                  <a:gd name="T93" fmla="*/ 194 h 280"/>
                  <a:gd name="T94" fmla="*/ 212 w 280"/>
                  <a:gd name="T95" fmla="*/ 232 h 280"/>
                  <a:gd name="T96" fmla="*/ 176 w 280"/>
                  <a:gd name="T97" fmla="*/ 211 h 280"/>
                  <a:gd name="T98" fmla="*/ 154 w 280"/>
                  <a:gd name="T99" fmla="*/ 230 h 2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80" h="280">
                    <a:moveTo>
                      <a:pt x="178" y="264"/>
                    </a:moveTo>
                    <a:cubicBezTo>
                      <a:pt x="178" y="236"/>
                      <a:pt x="178" y="236"/>
                      <a:pt x="178" y="236"/>
                    </a:cubicBezTo>
                    <a:cubicBezTo>
                      <a:pt x="179" y="235"/>
                      <a:pt x="180" y="235"/>
                      <a:pt x="181" y="235"/>
                    </a:cubicBezTo>
                    <a:cubicBezTo>
                      <a:pt x="201" y="255"/>
                      <a:pt x="201" y="255"/>
                      <a:pt x="201" y="255"/>
                    </a:cubicBezTo>
                    <a:cubicBezTo>
                      <a:pt x="207" y="261"/>
                      <a:pt x="217" y="261"/>
                      <a:pt x="223" y="255"/>
                    </a:cubicBezTo>
                    <a:cubicBezTo>
                      <a:pt x="255" y="223"/>
                      <a:pt x="255" y="223"/>
                      <a:pt x="255" y="223"/>
                    </a:cubicBezTo>
                    <a:cubicBezTo>
                      <a:pt x="258" y="220"/>
                      <a:pt x="259" y="216"/>
                      <a:pt x="259" y="212"/>
                    </a:cubicBezTo>
                    <a:cubicBezTo>
                      <a:pt x="259" y="208"/>
                      <a:pt x="258" y="204"/>
                      <a:pt x="255" y="201"/>
                    </a:cubicBezTo>
                    <a:cubicBezTo>
                      <a:pt x="235" y="181"/>
                      <a:pt x="235" y="181"/>
                      <a:pt x="235" y="181"/>
                    </a:cubicBezTo>
                    <a:cubicBezTo>
                      <a:pt x="235" y="180"/>
                      <a:pt x="235" y="179"/>
                      <a:pt x="236" y="178"/>
                    </a:cubicBezTo>
                    <a:cubicBezTo>
                      <a:pt x="264" y="178"/>
                      <a:pt x="264" y="178"/>
                      <a:pt x="264" y="178"/>
                    </a:cubicBezTo>
                    <a:cubicBezTo>
                      <a:pt x="273" y="178"/>
                      <a:pt x="280" y="171"/>
                      <a:pt x="280" y="162"/>
                    </a:cubicBezTo>
                    <a:cubicBezTo>
                      <a:pt x="280" y="118"/>
                      <a:pt x="280" y="118"/>
                      <a:pt x="280" y="118"/>
                    </a:cubicBezTo>
                    <a:cubicBezTo>
                      <a:pt x="280" y="109"/>
                      <a:pt x="273" y="102"/>
                      <a:pt x="264" y="102"/>
                    </a:cubicBezTo>
                    <a:cubicBezTo>
                      <a:pt x="236" y="102"/>
                      <a:pt x="236" y="102"/>
                      <a:pt x="236" y="102"/>
                    </a:cubicBezTo>
                    <a:cubicBezTo>
                      <a:pt x="235" y="101"/>
                      <a:pt x="235" y="100"/>
                      <a:pt x="235" y="99"/>
                    </a:cubicBezTo>
                    <a:cubicBezTo>
                      <a:pt x="255" y="79"/>
                      <a:pt x="255" y="79"/>
                      <a:pt x="255" y="79"/>
                    </a:cubicBezTo>
                    <a:cubicBezTo>
                      <a:pt x="261" y="73"/>
                      <a:pt x="261" y="63"/>
                      <a:pt x="255" y="57"/>
                    </a:cubicBezTo>
                    <a:cubicBezTo>
                      <a:pt x="223" y="25"/>
                      <a:pt x="223" y="25"/>
                      <a:pt x="223" y="25"/>
                    </a:cubicBezTo>
                    <a:cubicBezTo>
                      <a:pt x="217" y="19"/>
                      <a:pt x="207" y="19"/>
                      <a:pt x="201" y="25"/>
                    </a:cubicBezTo>
                    <a:cubicBezTo>
                      <a:pt x="181" y="45"/>
                      <a:pt x="181" y="45"/>
                      <a:pt x="181" y="45"/>
                    </a:cubicBezTo>
                    <a:cubicBezTo>
                      <a:pt x="180" y="45"/>
                      <a:pt x="179" y="44"/>
                      <a:pt x="178" y="44"/>
                    </a:cubicBezTo>
                    <a:cubicBezTo>
                      <a:pt x="178" y="16"/>
                      <a:pt x="178" y="16"/>
                      <a:pt x="178" y="16"/>
                    </a:cubicBezTo>
                    <a:cubicBezTo>
                      <a:pt x="178" y="7"/>
                      <a:pt x="171" y="0"/>
                      <a:pt x="162" y="0"/>
                    </a:cubicBezTo>
                    <a:cubicBezTo>
                      <a:pt x="118" y="0"/>
                      <a:pt x="118" y="0"/>
                      <a:pt x="118" y="0"/>
                    </a:cubicBezTo>
                    <a:cubicBezTo>
                      <a:pt x="109" y="0"/>
                      <a:pt x="102" y="7"/>
                      <a:pt x="102" y="16"/>
                    </a:cubicBezTo>
                    <a:cubicBezTo>
                      <a:pt x="102" y="44"/>
                      <a:pt x="102" y="44"/>
                      <a:pt x="102" y="44"/>
                    </a:cubicBezTo>
                    <a:cubicBezTo>
                      <a:pt x="101" y="44"/>
                      <a:pt x="100" y="45"/>
                      <a:pt x="99" y="45"/>
                    </a:cubicBezTo>
                    <a:cubicBezTo>
                      <a:pt x="79" y="25"/>
                      <a:pt x="79" y="25"/>
                      <a:pt x="79" y="25"/>
                    </a:cubicBezTo>
                    <a:cubicBezTo>
                      <a:pt x="73" y="19"/>
                      <a:pt x="63" y="19"/>
                      <a:pt x="57" y="25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19" y="63"/>
                      <a:pt x="19" y="73"/>
                      <a:pt x="25" y="79"/>
                    </a:cubicBezTo>
                    <a:cubicBezTo>
                      <a:pt x="45" y="99"/>
                      <a:pt x="45" y="99"/>
                      <a:pt x="45" y="99"/>
                    </a:cubicBezTo>
                    <a:cubicBezTo>
                      <a:pt x="45" y="100"/>
                      <a:pt x="45" y="101"/>
                      <a:pt x="44" y="102"/>
                    </a:cubicBezTo>
                    <a:cubicBezTo>
                      <a:pt x="16" y="102"/>
                      <a:pt x="16" y="102"/>
                      <a:pt x="16" y="102"/>
                    </a:cubicBezTo>
                    <a:cubicBezTo>
                      <a:pt x="7" y="102"/>
                      <a:pt x="0" y="109"/>
                      <a:pt x="0" y="118"/>
                    </a:cubicBezTo>
                    <a:cubicBezTo>
                      <a:pt x="0" y="162"/>
                      <a:pt x="0" y="162"/>
                      <a:pt x="0" y="162"/>
                    </a:cubicBezTo>
                    <a:cubicBezTo>
                      <a:pt x="0" y="171"/>
                      <a:pt x="7" y="178"/>
                      <a:pt x="16" y="178"/>
                    </a:cubicBezTo>
                    <a:cubicBezTo>
                      <a:pt x="44" y="178"/>
                      <a:pt x="44" y="178"/>
                      <a:pt x="44" y="178"/>
                    </a:cubicBezTo>
                    <a:cubicBezTo>
                      <a:pt x="45" y="179"/>
                      <a:pt x="45" y="180"/>
                      <a:pt x="45" y="181"/>
                    </a:cubicBezTo>
                    <a:cubicBezTo>
                      <a:pt x="25" y="201"/>
                      <a:pt x="25" y="201"/>
                      <a:pt x="25" y="201"/>
                    </a:cubicBezTo>
                    <a:cubicBezTo>
                      <a:pt x="22" y="204"/>
                      <a:pt x="21" y="208"/>
                      <a:pt x="21" y="212"/>
                    </a:cubicBezTo>
                    <a:cubicBezTo>
                      <a:pt x="21" y="216"/>
                      <a:pt x="22" y="220"/>
                      <a:pt x="25" y="223"/>
                    </a:cubicBezTo>
                    <a:cubicBezTo>
                      <a:pt x="57" y="255"/>
                      <a:pt x="57" y="255"/>
                      <a:pt x="57" y="255"/>
                    </a:cubicBezTo>
                    <a:cubicBezTo>
                      <a:pt x="63" y="261"/>
                      <a:pt x="73" y="261"/>
                      <a:pt x="79" y="255"/>
                    </a:cubicBezTo>
                    <a:cubicBezTo>
                      <a:pt x="99" y="235"/>
                      <a:pt x="99" y="235"/>
                      <a:pt x="99" y="235"/>
                    </a:cubicBezTo>
                    <a:cubicBezTo>
                      <a:pt x="100" y="235"/>
                      <a:pt x="101" y="235"/>
                      <a:pt x="102" y="236"/>
                    </a:cubicBezTo>
                    <a:cubicBezTo>
                      <a:pt x="102" y="264"/>
                      <a:pt x="102" y="264"/>
                      <a:pt x="102" y="264"/>
                    </a:cubicBezTo>
                    <a:cubicBezTo>
                      <a:pt x="102" y="273"/>
                      <a:pt x="109" y="280"/>
                      <a:pt x="118" y="280"/>
                    </a:cubicBezTo>
                    <a:cubicBezTo>
                      <a:pt x="162" y="280"/>
                      <a:pt x="162" y="280"/>
                      <a:pt x="162" y="280"/>
                    </a:cubicBezTo>
                    <a:cubicBezTo>
                      <a:pt x="171" y="280"/>
                      <a:pt x="178" y="273"/>
                      <a:pt x="178" y="264"/>
                    </a:cubicBezTo>
                    <a:close/>
                    <a:moveTo>
                      <a:pt x="154" y="230"/>
                    </a:moveTo>
                    <a:cubicBezTo>
                      <a:pt x="154" y="256"/>
                      <a:pt x="154" y="256"/>
                      <a:pt x="154" y="256"/>
                    </a:cubicBezTo>
                    <a:cubicBezTo>
                      <a:pt x="126" y="256"/>
                      <a:pt x="126" y="256"/>
                      <a:pt x="126" y="256"/>
                    </a:cubicBezTo>
                    <a:cubicBezTo>
                      <a:pt x="126" y="230"/>
                      <a:pt x="126" y="230"/>
                      <a:pt x="126" y="230"/>
                    </a:cubicBezTo>
                    <a:cubicBezTo>
                      <a:pt x="126" y="223"/>
                      <a:pt x="122" y="217"/>
                      <a:pt x="115" y="215"/>
                    </a:cubicBezTo>
                    <a:cubicBezTo>
                      <a:pt x="111" y="214"/>
                      <a:pt x="108" y="212"/>
                      <a:pt x="104" y="211"/>
                    </a:cubicBezTo>
                    <a:cubicBezTo>
                      <a:pt x="98" y="207"/>
                      <a:pt x="91" y="209"/>
                      <a:pt x="86" y="213"/>
                    </a:cubicBezTo>
                    <a:cubicBezTo>
                      <a:pt x="68" y="232"/>
                      <a:pt x="68" y="232"/>
                      <a:pt x="68" y="232"/>
                    </a:cubicBezTo>
                    <a:cubicBezTo>
                      <a:pt x="48" y="212"/>
                      <a:pt x="48" y="212"/>
                      <a:pt x="48" y="212"/>
                    </a:cubicBezTo>
                    <a:cubicBezTo>
                      <a:pt x="66" y="194"/>
                      <a:pt x="66" y="194"/>
                      <a:pt x="66" y="194"/>
                    </a:cubicBezTo>
                    <a:cubicBezTo>
                      <a:pt x="71" y="189"/>
                      <a:pt x="72" y="182"/>
                      <a:pt x="69" y="175"/>
                    </a:cubicBezTo>
                    <a:cubicBezTo>
                      <a:pt x="68" y="172"/>
                      <a:pt x="66" y="168"/>
                      <a:pt x="65" y="165"/>
                    </a:cubicBezTo>
                    <a:cubicBezTo>
                      <a:pt x="63" y="158"/>
                      <a:pt x="57" y="154"/>
                      <a:pt x="50" y="154"/>
                    </a:cubicBezTo>
                    <a:cubicBezTo>
                      <a:pt x="24" y="154"/>
                      <a:pt x="24" y="154"/>
                      <a:pt x="24" y="154"/>
                    </a:cubicBezTo>
                    <a:cubicBezTo>
                      <a:pt x="24" y="126"/>
                      <a:pt x="24" y="126"/>
                      <a:pt x="24" y="126"/>
                    </a:cubicBezTo>
                    <a:cubicBezTo>
                      <a:pt x="50" y="126"/>
                      <a:pt x="50" y="126"/>
                      <a:pt x="50" y="126"/>
                    </a:cubicBezTo>
                    <a:cubicBezTo>
                      <a:pt x="57" y="126"/>
                      <a:pt x="63" y="122"/>
                      <a:pt x="65" y="115"/>
                    </a:cubicBezTo>
                    <a:cubicBezTo>
                      <a:pt x="66" y="111"/>
                      <a:pt x="68" y="108"/>
                      <a:pt x="69" y="104"/>
                    </a:cubicBezTo>
                    <a:cubicBezTo>
                      <a:pt x="72" y="98"/>
                      <a:pt x="71" y="91"/>
                      <a:pt x="66" y="86"/>
                    </a:cubicBezTo>
                    <a:cubicBezTo>
                      <a:pt x="48" y="68"/>
                      <a:pt x="48" y="68"/>
                      <a:pt x="48" y="6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86" y="66"/>
                      <a:pt x="86" y="66"/>
                      <a:pt x="86" y="66"/>
                    </a:cubicBezTo>
                    <a:cubicBezTo>
                      <a:pt x="91" y="71"/>
                      <a:pt x="98" y="72"/>
                      <a:pt x="104" y="69"/>
                    </a:cubicBezTo>
                    <a:cubicBezTo>
                      <a:pt x="108" y="68"/>
                      <a:pt x="111" y="66"/>
                      <a:pt x="115" y="65"/>
                    </a:cubicBezTo>
                    <a:cubicBezTo>
                      <a:pt x="122" y="63"/>
                      <a:pt x="126" y="57"/>
                      <a:pt x="126" y="50"/>
                    </a:cubicBezTo>
                    <a:cubicBezTo>
                      <a:pt x="126" y="24"/>
                      <a:pt x="126" y="24"/>
                      <a:pt x="126" y="24"/>
                    </a:cubicBezTo>
                    <a:cubicBezTo>
                      <a:pt x="154" y="24"/>
                      <a:pt x="154" y="24"/>
                      <a:pt x="154" y="24"/>
                    </a:cubicBezTo>
                    <a:cubicBezTo>
                      <a:pt x="154" y="50"/>
                      <a:pt x="154" y="50"/>
                      <a:pt x="154" y="50"/>
                    </a:cubicBezTo>
                    <a:cubicBezTo>
                      <a:pt x="154" y="57"/>
                      <a:pt x="158" y="63"/>
                      <a:pt x="165" y="65"/>
                    </a:cubicBezTo>
                    <a:cubicBezTo>
                      <a:pt x="168" y="66"/>
                      <a:pt x="172" y="68"/>
                      <a:pt x="176" y="69"/>
                    </a:cubicBezTo>
                    <a:cubicBezTo>
                      <a:pt x="182" y="72"/>
                      <a:pt x="189" y="71"/>
                      <a:pt x="194" y="66"/>
                    </a:cubicBezTo>
                    <a:cubicBezTo>
                      <a:pt x="212" y="48"/>
                      <a:pt x="212" y="48"/>
                      <a:pt x="212" y="48"/>
                    </a:cubicBezTo>
                    <a:cubicBezTo>
                      <a:pt x="232" y="68"/>
                      <a:pt x="232" y="68"/>
                      <a:pt x="232" y="68"/>
                    </a:cubicBezTo>
                    <a:cubicBezTo>
                      <a:pt x="213" y="86"/>
                      <a:pt x="213" y="86"/>
                      <a:pt x="213" y="86"/>
                    </a:cubicBezTo>
                    <a:cubicBezTo>
                      <a:pt x="209" y="91"/>
                      <a:pt x="208" y="98"/>
                      <a:pt x="211" y="104"/>
                    </a:cubicBezTo>
                    <a:cubicBezTo>
                      <a:pt x="212" y="108"/>
                      <a:pt x="214" y="111"/>
                      <a:pt x="215" y="115"/>
                    </a:cubicBezTo>
                    <a:cubicBezTo>
                      <a:pt x="217" y="122"/>
                      <a:pt x="223" y="126"/>
                      <a:pt x="230" y="126"/>
                    </a:cubicBezTo>
                    <a:cubicBezTo>
                      <a:pt x="256" y="126"/>
                      <a:pt x="256" y="126"/>
                      <a:pt x="256" y="126"/>
                    </a:cubicBezTo>
                    <a:cubicBezTo>
                      <a:pt x="256" y="154"/>
                      <a:pt x="256" y="154"/>
                      <a:pt x="256" y="154"/>
                    </a:cubicBezTo>
                    <a:cubicBezTo>
                      <a:pt x="230" y="154"/>
                      <a:pt x="230" y="154"/>
                      <a:pt x="230" y="154"/>
                    </a:cubicBezTo>
                    <a:cubicBezTo>
                      <a:pt x="223" y="154"/>
                      <a:pt x="217" y="158"/>
                      <a:pt x="215" y="165"/>
                    </a:cubicBezTo>
                    <a:cubicBezTo>
                      <a:pt x="214" y="168"/>
                      <a:pt x="212" y="172"/>
                      <a:pt x="211" y="175"/>
                    </a:cubicBezTo>
                    <a:cubicBezTo>
                      <a:pt x="208" y="182"/>
                      <a:pt x="209" y="189"/>
                      <a:pt x="213" y="194"/>
                    </a:cubicBezTo>
                    <a:cubicBezTo>
                      <a:pt x="232" y="212"/>
                      <a:pt x="232" y="212"/>
                      <a:pt x="232" y="212"/>
                    </a:cubicBezTo>
                    <a:cubicBezTo>
                      <a:pt x="212" y="232"/>
                      <a:pt x="212" y="232"/>
                      <a:pt x="212" y="232"/>
                    </a:cubicBezTo>
                    <a:cubicBezTo>
                      <a:pt x="194" y="213"/>
                      <a:pt x="194" y="213"/>
                      <a:pt x="194" y="213"/>
                    </a:cubicBezTo>
                    <a:cubicBezTo>
                      <a:pt x="189" y="209"/>
                      <a:pt x="182" y="207"/>
                      <a:pt x="176" y="211"/>
                    </a:cubicBezTo>
                    <a:cubicBezTo>
                      <a:pt x="172" y="212"/>
                      <a:pt x="168" y="214"/>
                      <a:pt x="165" y="215"/>
                    </a:cubicBezTo>
                    <a:cubicBezTo>
                      <a:pt x="158" y="217"/>
                      <a:pt x="154" y="223"/>
                      <a:pt x="154" y="230"/>
                    </a:cubicBez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44" name="Freeform 165">
                <a:extLst>
                  <a:ext uri="{FF2B5EF4-FFF2-40B4-BE49-F238E27FC236}">
                    <a16:creationId xmlns:a16="http://schemas.microsoft.com/office/drawing/2014/main" id="{53D9305A-77E3-4E3B-8431-38D44F8358F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56388" y="3457575"/>
                <a:ext cx="69850" cy="71437"/>
              </a:xfrm>
              <a:custGeom>
                <a:avLst/>
                <a:gdLst>
                  <a:gd name="T0" fmla="*/ 104 w 104"/>
                  <a:gd name="T1" fmla="*/ 53 h 105"/>
                  <a:gd name="T2" fmla="*/ 52 w 104"/>
                  <a:gd name="T3" fmla="*/ 0 h 105"/>
                  <a:gd name="T4" fmla="*/ 0 w 104"/>
                  <a:gd name="T5" fmla="*/ 53 h 105"/>
                  <a:gd name="T6" fmla="*/ 52 w 104"/>
                  <a:gd name="T7" fmla="*/ 105 h 105"/>
                  <a:gd name="T8" fmla="*/ 104 w 104"/>
                  <a:gd name="T9" fmla="*/ 53 h 105"/>
                  <a:gd name="T10" fmla="*/ 52 w 104"/>
                  <a:gd name="T11" fmla="*/ 81 h 105"/>
                  <a:gd name="T12" fmla="*/ 24 w 104"/>
                  <a:gd name="T13" fmla="*/ 53 h 105"/>
                  <a:gd name="T14" fmla="*/ 52 w 104"/>
                  <a:gd name="T15" fmla="*/ 24 h 105"/>
                  <a:gd name="T16" fmla="*/ 80 w 104"/>
                  <a:gd name="T17" fmla="*/ 53 h 105"/>
                  <a:gd name="T18" fmla="*/ 52 w 104"/>
                  <a:gd name="T19" fmla="*/ 8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4" h="105">
                    <a:moveTo>
                      <a:pt x="104" y="53"/>
                    </a:moveTo>
                    <a:cubicBezTo>
                      <a:pt x="104" y="24"/>
                      <a:pt x="81" y="0"/>
                      <a:pt x="52" y="0"/>
                    </a:cubicBezTo>
                    <a:cubicBezTo>
                      <a:pt x="23" y="0"/>
                      <a:pt x="0" y="24"/>
                      <a:pt x="0" y="53"/>
                    </a:cubicBezTo>
                    <a:cubicBezTo>
                      <a:pt x="0" y="82"/>
                      <a:pt x="23" y="105"/>
                      <a:pt x="52" y="105"/>
                    </a:cubicBezTo>
                    <a:cubicBezTo>
                      <a:pt x="81" y="105"/>
                      <a:pt x="104" y="82"/>
                      <a:pt x="104" y="53"/>
                    </a:cubicBezTo>
                    <a:close/>
                    <a:moveTo>
                      <a:pt x="52" y="81"/>
                    </a:moveTo>
                    <a:cubicBezTo>
                      <a:pt x="36" y="81"/>
                      <a:pt x="24" y="69"/>
                      <a:pt x="24" y="53"/>
                    </a:cubicBezTo>
                    <a:cubicBezTo>
                      <a:pt x="24" y="37"/>
                      <a:pt x="36" y="24"/>
                      <a:pt x="52" y="24"/>
                    </a:cubicBezTo>
                    <a:cubicBezTo>
                      <a:pt x="68" y="24"/>
                      <a:pt x="80" y="37"/>
                      <a:pt x="80" y="53"/>
                    </a:cubicBezTo>
                    <a:cubicBezTo>
                      <a:pt x="80" y="69"/>
                      <a:pt x="68" y="81"/>
                      <a:pt x="52" y="81"/>
                    </a:cubicBez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45" name="Freeform 166">
                <a:extLst>
                  <a:ext uri="{FF2B5EF4-FFF2-40B4-BE49-F238E27FC236}">
                    <a16:creationId xmlns:a16="http://schemas.microsoft.com/office/drawing/2014/main" id="{ACFFE880-7BBD-4988-923A-DDC913A01F1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73838" y="3595688"/>
                <a:ext cx="73025" cy="73025"/>
              </a:xfrm>
              <a:custGeom>
                <a:avLst/>
                <a:gdLst>
                  <a:gd name="T0" fmla="*/ 53 w 106"/>
                  <a:gd name="T1" fmla="*/ 105 h 105"/>
                  <a:gd name="T2" fmla="*/ 106 w 106"/>
                  <a:gd name="T3" fmla="*/ 53 h 105"/>
                  <a:gd name="T4" fmla="*/ 53 w 106"/>
                  <a:gd name="T5" fmla="*/ 0 h 105"/>
                  <a:gd name="T6" fmla="*/ 0 w 106"/>
                  <a:gd name="T7" fmla="*/ 53 h 105"/>
                  <a:gd name="T8" fmla="*/ 53 w 106"/>
                  <a:gd name="T9" fmla="*/ 105 h 105"/>
                  <a:gd name="T10" fmla="*/ 53 w 106"/>
                  <a:gd name="T11" fmla="*/ 24 h 105"/>
                  <a:gd name="T12" fmla="*/ 82 w 106"/>
                  <a:gd name="T13" fmla="*/ 53 h 105"/>
                  <a:gd name="T14" fmla="*/ 53 w 106"/>
                  <a:gd name="T15" fmla="*/ 81 h 105"/>
                  <a:gd name="T16" fmla="*/ 24 w 106"/>
                  <a:gd name="T17" fmla="*/ 53 h 105"/>
                  <a:gd name="T18" fmla="*/ 53 w 106"/>
                  <a:gd name="T19" fmla="*/ 24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6" h="105">
                    <a:moveTo>
                      <a:pt x="53" y="105"/>
                    </a:moveTo>
                    <a:cubicBezTo>
                      <a:pt x="82" y="105"/>
                      <a:pt x="106" y="82"/>
                      <a:pt x="106" y="53"/>
                    </a:cubicBezTo>
                    <a:cubicBezTo>
                      <a:pt x="106" y="23"/>
                      <a:pt x="82" y="0"/>
                      <a:pt x="53" y="0"/>
                    </a:cubicBezTo>
                    <a:cubicBezTo>
                      <a:pt x="24" y="0"/>
                      <a:pt x="0" y="23"/>
                      <a:pt x="0" y="53"/>
                    </a:cubicBezTo>
                    <a:cubicBezTo>
                      <a:pt x="0" y="82"/>
                      <a:pt x="24" y="105"/>
                      <a:pt x="53" y="105"/>
                    </a:cubicBezTo>
                    <a:close/>
                    <a:moveTo>
                      <a:pt x="53" y="24"/>
                    </a:moveTo>
                    <a:cubicBezTo>
                      <a:pt x="69" y="24"/>
                      <a:pt x="82" y="37"/>
                      <a:pt x="82" y="53"/>
                    </a:cubicBezTo>
                    <a:cubicBezTo>
                      <a:pt x="82" y="68"/>
                      <a:pt x="69" y="81"/>
                      <a:pt x="53" y="81"/>
                    </a:cubicBezTo>
                    <a:cubicBezTo>
                      <a:pt x="37" y="81"/>
                      <a:pt x="24" y="68"/>
                      <a:pt x="24" y="53"/>
                    </a:cubicBezTo>
                    <a:cubicBezTo>
                      <a:pt x="24" y="37"/>
                      <a:pt x="37" y="24"/>
                      <a:pt x="53" y="24"/>
                    </a:cubicBez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46" name="Freeform 167">
                <a:extLst>
                  <a:ext uri="{FF2B5EF4-FFF2-40B4-BE49-F238E27FC236}">
                    <a16:creationId xmlns:a16="http://schemas.microsoft.com/office/drawing/2014/main" id="{E677A9B6-7512-41B1-AF03-079611C37A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735763" y="3595688"/>
                <a:ext cx="73025" cy="73025"/>
              </a:xfrm>
              <a:custGeom>
                <a:avLst/>
                <a:gdLst>
                  <a:gd name="T0" fmla="*/ 0 w 106"/>
                  <a:gd name="T1" fmla="*/ 53 h 105"/>
                  <a:gd name="T2" fmla="*/ 53 w 106"/>
                  <a:gd name="T3" fmla="*/ 105 h 105"/>
                  <a:gd name="T4" fmla="*/ 106 w 106"/>
                  <a:gd name="T5" fmla="*/ 53 h 105"/>
                  <a:gd name="T6" fmla="*/ 53 w 106"/>
                  <a:gd name="T7" fmla="*/ 0 h 105"/>
                  <a:gd name="T8" fmla="*/ 0 w 106"/>
                  <a:gd name="T9" fmla="*/ 53 h 105"/>
                  <a:gd name="T10" fmla="*/ 82 w 106"/>
                  <a:gd name="T11" fmla="*/ 53 h 105"/>
                  <a:gd name="T12" fmla="*/ 53 w 106"/>
                  <a:gd name="T13" fmla="*/ 81 h 105"/>
                  <a:gd name="T14" fmla="*/ 24 w 106"/>
                  <a:gd name="T15" fmla="*/ 53 h 105"/>
                  <a:gd name="T16" fmla="*/ 53 w 106"/>
                  <a:gd name="T17" fmla="*/ 24 h 105"/>
                  <a:gd name="T18" fmla="*/ 82 w 106"/>
                  <a:gd name="T19" fmla="*/ 53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6" h="105">
                    <a:moveTo>
                      <a:pt x="0" y="53"/>
                    </a:moveTo>
                    <a:cubicBezTo>
                      <a:pt x="0" y="82"/>
                      <a:pt x="24" y="105"/>
                      <a:pt x="53" y="105"/>
                    </a:cubicBezTo>
                    <a:cubicBezTo>
                      <a:pt x="82" y="105"/>
                      <a:pt x="106" y="82"/>
                      <a:pt x="106" y="53"/>
                    </a:cubicBezTo>
                    <a:cubicBezTo>
                      <a:pt x="106" y="23"/>
                      <a:pt x="82" y="0"/>
                      <a:pt x="53" y="0"/>
                    </a:cubicBezTo>
                    <a:cubicBezTo>
                      <a:pt x="24" y="0"/>
                      <a:pt x="0" y="23"/>
                      <a:pt x="0" y="53"/>
                    </a:cubicBezTo>
                    <a:close/>
                    <a:moveTo>
                      <a:pt x="82" y="53"/>
                    </a:moveTo>
                    <a:cubicBezTo>
                      <a:pt x="82" y="68"/>
                      <a:pt x="69" y="81"/>
                      <a:pt x="53" y="81"/>
                    </a:cubicBezTo>
                    <a:cubicBezTo>
                      <a:pt x="37" y="81"/>
                      <a:pt x="24" y="68"/>
                      <a:pt x="24" y="53"/>
                    </a:cubicBezTo>
                    <a:cubicBezTo>
                      <a:pt x="24" y="37"/>
                      <a:pt x="37" y="24"/>
                      <a:pt x="53" y="24"/>
                    </a:cubicBezTo>
                    <a:cubicBezTo>
                      <a:pt x="69" y="24"/>
                      <a:pt x="82" y="37"/>
                      <a:pt x="82" y="53"/>
                    </a:cubicBez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47" name="Oval 246">
                <a:extLst>
                  <a:ext uri="{FF2B5EF4-FFF2-40B4-BE49-F238E27FC236}">
                    <a16:creationId xmlns:a16="http://schemas.microsoft.com/office/drawing/2014/main" id="{488ED653-1BDC-40F5-A8F6-A50EC3A74A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84963" y="3609975"/>
                <a:ext cx="15875" cy="15875"/>
              </a:xfrm>
              <a:prstGeom prst="ellipse">
                <a:avLst/>
              </a:pr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48" name="Oval 247">
                <a:extLst>
                  <a:ext uri="{FF2B5EF4-FFF2-40B4-BE49-F238E27FC236}">
                    <a16:creationId xmlns:a16="http://schemas.microsoft.com/office/drawing/2014/main" id="{D62494DE-6E78-45D9-A516-EA4152B62E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84963" y="3641725"/>
                <a:ext cx="15875" cy="15875"/>
              </a:xfrm>
              <a:prstGeom prst="ellipse">
                <a:avLst/>
              </a:pr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49" name="Oval 248">
                <a:extLst>
                  <a:ext uri="{FF2B5EF4-FFF2-40B4-BE49-F238E27FC236}">
                    <a16:creationId xmlns:a16="http://schemas.microsoft.com/office/drawing/2014/main" id="{6DB21D02-75EE-4C39-AEAF-01F92A11AA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84963" y="3673475"/>
                <a:ext cx="15875" cy="15875"/>
              </a:xfrm>
              <a:prstGeom prst="ellipse">
                <a:avLst/>
              </a:pr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50" name="Freeform 171">
                <a:extLst>
                  <a:ext uri="{FF2B5EF4-FFF2-40B4-BE49-F238E27FC236}">
                    <a16:creationId xmlns:a16="http://schemas.microsoft.com/office/drawing/2014/main" id="{C9A64F80-9FCC-42AC-AA93-E01C0EB50F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710363" y="3673475"/>
                <a:ext cx="125413" cy="63500"/>
              </a:xfrm>
              <a:custGeom>
                <a:avLst/>
                <a:gdLst>
                  <a:gd name="T0" fmla="*/ 115 w 185"/>
                  <a:gd name="T1" fmla="*/ 0 h 92"/>
                  <a:gd name="T2" fmla="*/ 70 w 185"/>
                  <a:gd name="T3" fmla="*/ 0 h 92"/>
                  <a:gd name="T4" fmla="*/ 0 w 185"/>
                  <a:gd name="T5" fmla="*/ 70 h 92"/>
                  <a:gd name="T6" fmla="*/ 0 w 185"/>
                  <a:gd name="T7" fmla="*/ 78 h 92"/>
                  <a:gd name="T8" fmla="*/ 13 w 185"/>
                  <a:gd name="T9" fmla="*/ 92 h 92"/>
                  <a:gd name="T10" fmla="*/ 171 w 185"/>
                  <a:gd name="T11" fmla="*/ 92 h 92"/>
                  <a:gd name="T12" fmla="*/ 185 w 185"/>
                  <a:gd name="T13" fmla="*/ 78 h 92"/>
                  <a:gd name="T14" fmla="*/ 185 w 185"/>
                  <a:gd name="T15" fmla="*/ 70 h 92"/>
                  <a:gd name="T16" fmla="*/ 115 w 185"/>
                  <a:gd name="T17" fmla="*/ 0 h 92"/>
                  <a:gd name="T18" fmla="*/ 24 w 185"/>
                  <a:gd name="T19" fmla="*/ 68 h 92"/>
                  <a:gd name="T20" fmla="*/ 70 w 185"/>
                  <a:gd name="T21" fmla="*/ 24 h 92"/>
                  <a:gd name="T22" fmla="*/ 115 w 185"/>
                  <a:gd name="T23" fmla="*/ 24 h 92"/>
                  <a:gd name="T24" fmla="*/ 160 w 185"/>
                  <a:gd name="T25" fmla="*/ 68 h 92"/>
                  <a:gd name="T26" fmla="*/ 24 w 185"/>
                  <a:gd name="T27" fmla="*/ 68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85" h="92">
                    <a:moveTo>
                      <a:pt x="115" y="0"/>
                    </a:moveTo>
                    <a:cubicBezTo>
                      <a:pt x="70" y="0"/>
                      <a:pt x="70" y="0"/>
                      <a:pt x="70" y="0"/>
                    </a:cubicBezTo>
                    <a:cubicBezTo>
                      <a:pt x="31" y="0"/>
                      <a:pt x="0" y="32"/>
                      <a:pt x="0" y="70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0" y="86"/>
                      <a:pt x="6" y="92"/>
                      <a:pt x="13" y="92"/>
                    </a:cubicBezTo>
                    <a:cubicBezTo>
                      <a:pt x="171" y="92"/>
                      <a:pt x="171" y="92"/>
                      <a:pt x="171" y="92"/>
                    </a:cubicBezTo>
                    <a:cubicBezTo>
                      <a:pt x="179" y="92"/>
                      <a:pt x="185" y="86"/>
                      <a:pt x="185" y="78"/>
                    </a:cubicBezTo>
                    <a:cubicBezTo>
                      <a:pt x="185" y="70"/>
                      <a:pt x="185" y="70"/>
                      <a:pt x="185" y="70"/>
                    </a:cubicBezTo>
                    <a:cubicBezTo>
                      <a:pt x="185" y="32"/>
                      <a:pt x="153" y="0"/>
                      <a:pt x="115" y="0"/>
                    </a:cubicBezTo>
                    <a:close/>
                    <a:moveTo>
                      <a:pt x="24" y="68"/>
                    </a:moveTo>
                    <a:cubicBezTo>
                      <a:pt x="25" y="43"/>
                      <a:pt x="45" y="24"/>
                      <a:pt x="70" y="24"/>
                    </a:cubicBezTo>
                    <a:cubicBezTo>
                      <a:pt x="115" y="24"/>
                      <a:pt x="115" y="24"/>
                      <a:pt x="115" y="24"/>
                    </a:cubicBezTo>
                    <a:cubicBezTo>
                      <a:pt x="139" y="24"/>
                      <a:pt x="159" y="43"/>
                      <a:pt x="160" y="68"/>
                    </a:cubicBezTo>
                    <a:lnTo>
                      <a:pt x="24" y="68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51" name="Freeform 172">
                <a:extLst>
                  <a:ext uri="{FF2B5EF4-FFF2-40B4-BE49-F238E27FC236}">
                    <a16:creationId xmlns:a16="http://schemas.microsoft.com/office/drawing/2014/main" id="{4E3484DC-E502-4128-B32A-4143BFD417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46850" y="3675063"/>
                <a:ext cx="125413" cy="61912"/>
              </a:xfrm>
              <a:custGeom>
                <a:avLst/>
                <a:gdLst>
                  <a:gd name="T0" fmla="*/ 114 w 184"/>
                  <a:gd name="T1" fmla="*/ 0 h 91"/>
                  <a:gd name="T2" fmla="*/ 69 w 184"/>
                  <a:gd name="T3" fmla="*/ 0 h 91"/>
                  <a:gd name="T4" fmla="*/ 0 w 184"/>
                  <a:gd name="T5" fmla="*/ 70 h 91"/>
                  <a:gd name="T6" fmla="*/ 0 w 184"/>
                  <a:gd name="T7" fmla="*/ 78 h 91"/>
                  <a:gd name="T8" fmla="*/ 13 w 184"/>
                  <a:gd name="T9" fmla="*/ 91 h 91"/>
                  <a:gd name="T10" fmla="*/ 171 w 184"/>
                  <a:gd name="T11" fmla="*/ 91 h 91"/>
                  <a:gd name="T12" fmla="*/ 184 w 184"/>
                  <a:gd name="T13" fmla="*/ 78 h 91"/>
                  <a:gd name="T14" fmla="*/ 184 w 184"/>
                  <a:gd name="T15" fmla="*/ 70 h 91"/>
                  <a:gd name="T16" fmla="*/ 114 w 184"/>
                  <a:gd name="T17" fmla="*/ 0 h 91"/>
                  <a:gd name="T18" fmla="*/ 24 w 184"/>
                  <a:gd name="T19" fmla="*/ 67 h 91"/>
                  <a:gd name="T20" fmla="*/ 69 w 184"/>
                  <a:gd name="T21" fmla="*/ 24 h 91"/>
                  <a:gd name="T22" fmla="*/ 114 w 184"/>
                  <a:gd name="T23" fmla="*/ 24 h 91"/>
                  <a:gd name="T24" fmla="*/ 160 w 184"/>
                  <a:gd name="T25" fmla="*/ 67 h 91"/>
                  <a:gd name="T26" fmla="*/ 24 w 184"/>
                  <a:gd name="T27" fmla="*/ 67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84" h="91">
                    <a:moveTo>
                      <a:pt x="114" y="0"/>
                    </a:moveTo>
                    <a:cubicBezTo>
                      <a:pt x="69" y="0"/>
                      <a:pt x="69" y="0"/>
                      <a:pt x="69" y="0"/>
                    </a:cubicBezTo>
                    <a:cubicBezTo>
                      <a:pt x="31" y="0"/>
                      <a:pt x="0" y="31"/>
                      <a:pt x="0" y="70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0" y="85"/>
                      <a:pt x="6" y="91"/>
                      <a:pt x="13" y="91"/>
                    </a:cubicBezTo>
                    <a:cubicBezTo>
                      <a:pt x="171" y="91"/>
                      <a:pt x="171" y="91"/>
                      <a:pt x="171" y="91"/>
                    </a:cubicBezTo>
                    <a:cubicBezTo>
                      <a:pt x="178" y="91"/>
                      <a:pt x="184" y="85"/>
                      <a:pt x="184" y="78"/>
                    </a:cubicBezTo>
                    <a:cubicBezTo>
                      <a:pt x="184" y="70"/>
                      <a:pt x="184" y="70"/>
                      <a:pt x="184" y="70"/>
                    </a:cubicBezTo>
                    <a:cubicBezTo>
                      <a:pt x="184" y="31"/>
                      <a:pt x="153" y="0"/>
                      <a:pt x="114" y="0"/>
                    </a:cubicBezTo>
                    <a:close/>
                    <a:moveTo>
                      <a:pt x="24" y="67"/>
                    </a:moveTo>
                    <a:cubicBezTo>
                      <a:pt x="25" y="43"/>
                      <a:pt x="45" y="24"/>
                      <a:pt x="69" y="24"/>
                    </a:cubicBezTo>
                    <a:cubicBezTo>
                      <a:pt x="114" y="24"/>
                      <a:pt x="114" y="24"/>
                      <a:pt x="114" y="24"/>
                    </a:cubicBezTo>
                    <a:cubicBezTo>
                      <a:pt x="139" y="24"/>
                      <a:pt x="159" y="43"/>
                      <a:pt x="160" y="67"/>
                    </a:cubicBezTo>
                    <a:lnTo>
                      <a:pt x="24" y="67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03183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9478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Parent Master Pillars">
  <a:themeElements>
    <a:clrScheme name="Oracle NetSuite Light Theme Template 2021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00688C"/>
      </a:hlink>
      <a:folHlink>
        <a:srgbClr val="00688C"/>
      </a:folHlink>
    </a:clrScheme>
    <a:fontScheme name="Oracle Sans Tabular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Fla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 cap="flat" cmpd="sng" algn="ctr">
          <a:solidFill>
            <a:schemeClr val="phClr">
              <a:shade val="65000"/>
            </a:schemeClr>
          </a:solidFill>
          <a:prstDash val="solid"/>
        </a:ln>
        <a:ln w="3175" cap="flat" cmpd="sng" algn="ctr">
          <a:solidFill>
            <a:schemeClr val="phClr"/>
          </a:solidFill>
          <a:prstDash val="solid"/>
        </a:ln>
        <a:ln w="0" cap="flat" cmpd="sng" algn="ctr">
          <a:noFill/>
        </a:ln>
      </a:lnStyleLst>
      <a:effectStyleLst>
        <a:effectStyle>
          <a:effectLst>
            <a:blur/>
          </a:effectLst>
        </a:effectStyle>
        <a:effectStyle>
          <a:effectLst>
            <a:blur/>
          </a:effectLst>
        </a:effectStyle>
        <a:effectStyle>
          <a:effectLst>
            <a:fillOverlay blend="darken">
              <a:solidFill>
                <a:schemeClr val="phClr">
                  <a:shade val="30000"/>
                </a:schemeClr>
              </a:solidFill>
            </a:fillOverlay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Ocean">
      <a:srgbClr val="2C5967"/>
    </a:custClr>
    <a:custClr name="Surf">
      <a:srgbClr val="41817E"/>
    </a:custClr>
    <a:custClr name="Sand">
      <a:srgbClr val="E5DBBE"/>
    </a:custClr>
    <a:custClr name="Pebble">
      <a:srgbClr val="8B8580"/>
    </a:custClr>
    <a:custClr name="Granite">
      <a:srgbClr val="67605B"/>
    </a:custClr>
    <a:custClr name="Position 6">
      <a:srgbClr val="FFFFFF"/>
    </a:custClr>
    <a:custClr name="Highlight/hyperlink dark theme">
      <a:srgbClr val="F0CC71"/>
    </a:custClr>
    <a:custClr name="Highlight/numbered list light theme">
      <a:srgbClr val="AE562C"/>
    </a:custClr>
    <a:custClr name="Hyperlink light theme (default)">
      <a:srgbClr val="00688C"/>
    </a:custClr>
    <a:custClr name="Numbered list dark theme">
      <a:srgbClr val="759C6C"/>
    </a:custClr>
    <a:custClr name="Brand: Neutral 30">
      <a:srgbClr val="F1EFED"/>
    </a:custClr>
    <a:custClr name="Developer: Pebble 30">
      <a:srgbClr val="E7F0FD"/>
    </a:custClr>
    <a:custClr name="Database: Slate 30">
      <a:srgbClr val="E7F2F2"/>
    </a:custClr>
    <a:custClr name="Cloud Platform: Pine 30">
      <a:srgbClr val="E0F5E7"/>
    </a:custClr>
    <a:custClr name="Finance / Operations: Teal 30">
      <a:srgbClr val="E8F1F0"/>
    </a:custClr>
    <a:custClr name="NetSuite: Ocean 30">
      <a:srgbClr val="E7F2F5"/>
    </a:custClr>
    <a:custClr name="GBU: Lilac 30">
      <a:srgbClr val="EBEFFE"/>
    </a:custClr>
    <a:custClr name="CX/Marketing: Plum 30">
      <a:srgbClr val="F5ECFB"/>
    </a:custClr>
    <a:custClr name="HCM/HR: Rose 30">
      <a:srgbClr val="FBECEF"/>
    </a:custClr>
    <a:custClr name="SCM: Sienna 30">
      <a:srgbClr val="FCEDD9"/>
    </a:custClr>
    <a:custClr name="Brand: Neutral 70">
      <a:srgbClr val="AEA8A2"/>
    </a:custClr>
    <a:custClr name="Developer: Pebble 70">
      <a:srgbClr val="A2AAB6"/>
    </a:custClr>
    <a:custClr name="Database: Slate 70">
      <a:srgbClr val="99ADAE"/>
    </a:custClr>
    <a:custClr name="Cloud Platform: Pine 70">
      <a:srgbClr val="86B596"/>
    </a:custClr>
    <a:custClr name="Finance / Operations: Teal 70">
      <a:srgbClr val="89B2B0"/>
    </a:custClr>
    <a:custClr name="NetSuite: Ocean 70">
      <a:srgbClr val="81B2C3"/>
    </a:custClr>
    <a:custClr name="GBU: Lilac 70">
      <a:srgbClr val="A0A9C5"/>
    </a:custClr>
    <a:custClr name="CX/Marketing: Plum 70">
      <a:srgbClr val="B7A1C4"/>
    </a:custClr>
    <a:custClr name="HCM/HR: Rose 70">
      <a:srgbClr val="CE9BA7"/>
    </a:custClr>
    <a:custClr name="SCM: Sienna 70">
      <a:srgbClr val="D39F5D"/>
    </a:custClr>
    <a:custClr name="Brand: Neutral 140">
      <a:srgbClr val="514C47"/>
    </a:custClr>
    <a:custClr name="Developer: Pebble 140">
      <a:srgbClr val="494D53"/>
    </a:custClr>
    <a:custClr name="Database: Slate 140">
      <a:srgbClr val="464F4F"/>
    </a:custClr>
    <a:custClr name="Cloud Platform: Pine 140">
      <a:srgbClr val="33553C"/>
    </a:custClr>
    <a:custClr name="Finance / Operations: Teal 140">
      <a:srgbClr val="315357"/>
    </a:custClr>
    <a:custClr name="NetSuite: Ocean 140">
      <a:srgbClr val="2C5266"/>
    </a:custClr>
    <a:custClr name="GBU: Lilac 140">
      <a:srgbClr val="464C68"/>
    </a:custClr>
    <a:custClr name="CX/Marketing: Plum 140">
      <a:srgbClr val="594564"/>
    </a:custClr>
    <a:custClr name="HCM/HR: Rose 140">
      <a:srgbClr val="6C3F49"/>
    </a:custClr>
    <a:custClr name="SCM: Sienna 140">
      <a:srgbClr val="713F25"/>
    </a:custClr>
    <a:custClr name="Brand: Neutral 170">
      <a:srgbClr val="312D2A"/>
    </a:custClr>
    <a:custClr name="Developer: Pebble 170">
      <a:srgbClr val="2B2E32"/>
    </a:custClr>
    <a:custClr name="Database: Slate 170">
      <a:srgbClr val="2A2F2F"/>
    </a:custClr>
    <a:custClr name="Cloud Platform: Pine 170">
      <a:srgbClr val="1E3224"/>
    </a:custClr>
    <a:custClr name="Finance / Operations: Teal 170">
      <a:srgbClr val="1E3133"/>
    </a:custClr>
    <a:custClr name="NetSuite: Ocean 170">
      <a:srgbClr val="1A2F3F"/>
    </a:custClr>
    <a:custClr name="GBU: Lilac 170">
      <a:srgbClr val="2A2D3F"/>
    </a:custClr>
    <a:custClr name="CX/Marketing: Plum 170">
      <a:srgbClr val="36293C"/>
    </a:custClr>
    <a:custClr name="HCM/HR: Rose 170">
      <a:srgbClr val="41242B"/>
    </a:custClr>
    <a:custClr name="SCM: Sienna 170">
      <a:srgbClr val="442616"/>
    </a:custClr>
  </a:custClrLst>
  <a:extLst>
    <a:ext uri="{05A4C25C-085E-4340-85A3-A5531E510DB2}">
      <thm15:themeFamily xmlns:thm15="http://schemas.microsoft.com/office/thememl/2012/main" name="Oracle Redwood Modern v1.1.potx" id="{90EC28AD-73B7-49E5-B95A-D51B4BC18020}" vid="{A14BC67F-9127-4887-B9D1-2274AF0C5E61}"/>
    </a:ext>
  </a:extLst>
</a:theme>
</file>

<file path=ppt/theme/theme2.xml><?xml version="1.0" encoding="utf-8"?>
<a:theme xmlns:a="http://schemas.openxmlformats.org/drawingml/2006/main" name="Office Theme">
  <a:themeElements>
    <a:clrScheme name="Oracle 1.13 original colors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2C5967"/>
      </a:hlink>
      <a:folHlink>
        <a:srgbClr val="2C5967"/>
      </a:folHlink>
    </a:clrScheme>
    <a:fontScheme name="Oracle">
      <a:majorFont>
        <a:latin typeface="Georgia"/>
        <a:ea typeface=""/>
        <a:cs typeface=""/>
      </a:majorFont>
      <a:minorFont>
        <a:latin typeface="Oracl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racle 1.13 original colors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2C5967"/>
      </a:hlink>
      <a:folHlink>
        <a:srgbClr val="2C5967"/>
      </a:folHlink>
    </a:clrScheme>
    <a:fontScheme name="Oracle">
      <a:majorFont>
        <a:latin typeface="Georgia"/>
        <a:ea typeface=""/>
        <a:cs typeface=""/>
      </a:majorFont>
      <a:minorFont>
        <a:latin typeface="Oracl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Parent Master Pillars</Template>
  <TotalTime>3182</TotalTime>
  <Words>119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Georgia</vt:lpstr>
      <vt:lpstr>Oracle Sans</vt:lpstr>
      <vt:lpstr>Oracle Sans Light</vt:lpstr>
      <vt:lpstr>Oracle Sans Tab</vt:lpstr>
      <vt:lpstr>Oracle Sans Tab Light</vt:lpstr>
      <vt:lpstr>System Font Regular</vt:lpstr>
      <vt:lpstr>Parent Master Pillars</vt:lpstr>
      <vt:lpstr>Value of Improving Business Processes – Advanced Revenue Management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What’s different about this template?</dc:title>
  <dc:creator>Chan, Louis</dc:creator>
  <cp:lastModifiedBy>Sherri Hartlen-Neely</cp:lastModifiedBy>
  <cp:revision>77</cp:revision>
  <dcterms:created xsi:type="dcterms:W3CDTF">2021-03-03T00:08:06Z</dcterms:created>
  <dcterms:modified xsi:type="dcterms:W3CDTF">2023-01-17T17:29:40Z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2231507</vt:lpwstr>
  </property>
  <property fmtid="{D5CDD505-2E9C-101B-9397-08002B2CF9AE}" pid="3" name="NXPowerLiteSettings">
    <vt:lpwstr>C700052003A000</vt:lpwstr>
  </property>
  <property fmtid="{D5CDD505-2E9C-101B-9397-08002B2CF9AE}" pid="4" name="NXPowerLiteVersion">
    <vt:lpwstr>D8.0.11</vt:lpwstr>
  </property>
</Properties>
</file>